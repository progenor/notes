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73" r:id="rId3"/>
    <p:sldId id="257" r:id="rId4"/>
    <p:sldId id="258" r:id="rId5"/>
    <p:sldId id="259" r:id="rId6"/>
    <p:sldId id="260" r:id="rId7"/>
    <p:sldId id="269" r:id="rId8"/>
    <p:sldId id="261" r:id="rId9"/>
    <p:sldId id="262" r:id="rId10"/>
    <p:sldId id="274" r:id="rId11"/>
    <p:sldId id="275" r:id="rId12"/>
    <p:sldId id="263" r:id="rId13"/>
    <p:sldId id="264" r:id="rId14"/>
    <p:sldId id="276" r:id="rId15"/>
    <p:sldId id="270" r:id="rId16"/>
    <p:sldId id="277" r:id="rId17"/>
    <p:sldId id="265" r:id="rId18"/>
    <p:sldId id="267" r:id="rId19"/>
    <p:sldId id="268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5/5/2025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30E4EB1-BB0E-40A5-AA7A-BC7FD3C507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 err="1"/>
              <a:t>Erd</a:t>
            </a:r>
            <a:r>
              <a:rPr lang="hu-HU" dirty="0" err="1"/>
              <a:t>ély</a:t>
            </a:r>
            <a:r>
              <a:rPr lang="hu-HU" dirty="0"/>
              <a:t> a második világháború után</a:t>
            </a:r>
            <a:br>
              <a:rPr lang="hu-HU" dirty="0"/>
            </a:br>
            <a:r>
              <a:rPr lang="hu-HU" dirty="0"/>
              <a:t>1945 – 1989 </a:t>
            </a:r>
            <a:endParaRPr lang="en-US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502A2DDB-3DE7-433E-AB36-5A0BD75B5F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789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4">
            <a:extLst>
              <a:ext uri="{FF2B5EF4-FFF2-40B4-BE49-F238E27FC236}">
                <a16:creationId xmlns:a16="http://schemas.microsoft.com/office/drawing/2014/main" id="{8C8A57DE-954D-42AF-836E-F105B823F38A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332863" y="301625"/>
            <a:ext cx="11859137" cy="936625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hu-HU" altLang="hu-HU" sz="2800" b="1" dirty="0"/>
              <a:t>Románia a II. világháború után. </a:t>
            </a:r>
            <a:br>
              <a:rPr lang="hu-HU" altLang="hu-HU" sz="2800" b="1" dirty="0"/>
            </a:br>
            <a:r>
              <a:rPr lang="hu-HU" altLang="hu-HU" sz="2800" b="1" dirty="0"/>
              <a:t>Átmenet a kommunizmusba, a hatalom megszerzése (1944-1947)</a:t>
            </a:r>
            <a:endParaRPr lang="en-US" altLang="hu-HU" sz="2800" b="1" dirty="0"/>
          </a:p>
        </p:txBody>
      </p:sp>
      <p:sp>
        <p:nvSpPr>
          <p:cNvPr id="20483" name="Rectangle 5">
            <a:extLst>
              <a:ext uri="{FF2B5EF4-FFF2-40B4-BE49-F238E27FC236}">
                <a16:creationId xmlns:a16="http://schemas.microsoft.com/office/drawing/2014/main" id="{6992DDC9-683D-48FF-99EF-A5C4767DF422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-1" y="1238250"/>
            <a:ext cx="7563775" cy="4905098"/>
          </a:xfrm>
        </p:spPr>
        <p:txBody>
          <a:bodyPr>
            <a:noAutofit/>
          </a:bodyPr>
          <a:lstStyle/>
          <a:p>
            <a:pPr marL="0" indent="0" algn="just" eaLnBrk="1" hangingPunct="1">
              <a:lnSpc>
                <a:spcPct val="150000"/>
              </a:lnSpc>
              <a:buFont typeface="Wingdings 3" panose="05040102010807070707" pitchFamily="18" charset="2"/>
              <a:buNone/>
            </a:pPr>
            <a:r>
              <a:rPr lang="hu-HU" altLang="hu-H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1944. aug. 23. Románia kilép a háborúból</a:t>
            </a:r>
          </a:p>
          <a:p>
            <a:pPr marL="0" indent="0" algn="just" eaLnBrk="1" hangingPunct="1">
              <a:lnSpc>
                <a:spcPct val="150000"/>
              </a:lnSpc>
              <a:buFont typeface="Wingdings 3" panose="05040102010807070707" pitchFamily="18" charset="2"/>
              <a:buNone/>
            </a:pPr>
            <a:r>
              <a:rPr lang="hu-HU" altLang="hu-H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az ország szovjet megszállás és befolyás alá került</a:t>
            </a:r>
          </a:p>
          <a:p>
            <a:pPr marL="0" indent="0" algn="just" eaLnBrk="1" hangingPunct="1">
              <a:lnSpc>
                <a:spcPct val="150000"/>
              </a:lnSpc>
              <a:buFont typeface="Wingdings 3" panose="05040102010807070707" pitchFamily="18" charset="2"/>
              <a:buNone/>
            </a:pPr>
            <a:r>
              <a:rPr lang="hu-HU" altLang="hu-H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elvileg visszaállt a többpártrendszer, viszont a szovjetek által támogatott Román Kommunista Párt (RKP) befolyása gyorsan növekedett: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hu-H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944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őszén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Észak-Erdélyben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magyarok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ellen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elkövetett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atrocitások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miatt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átmenetileg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bevezették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szovjet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katonai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közigazgatást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hu-H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1944.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október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16-án a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Romániai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Magyar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Dolgozók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Szövetségének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utódjaként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Brassóban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megalakult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baloldali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irányvonalú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Romániai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Magyar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Népi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Szövetség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(MNSZ),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amely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valamennyi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romániai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magyar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képviselőjeként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kívánt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politikai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életben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szerepelni</a:t>
            </a:r>
            <a:endParaRPr lang="hu-H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Kép 1">
            <a:extLst>
              <a:ext uri="{FF2B5EF4-FFF2-40B4-BE49-F238E27FC236}">
                <a16:creationId xmlns:a16="http://schemas.microsoft.com/office/drawing/2014/main" id="{0A84DDD1-05D6-48E1-A60B-3D05E9D6AD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1463" y="1136064"/>
            <a:ext cx="3677674" cy="49050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CEEC388-EBD5-495A-9850-EC83664BF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1945-1947.</a:t>
            </a:r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B4AB4A4-36F6-4C72-81A4-3BE77DC07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0932" y="2015731"/>
            <a:ext cx="10440139" cy="3763631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1945.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február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6-án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Nemzetiségi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Statútum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kimondta: </a:t>
            </a:r>
          </a:p>
          <a:p>
            <a:pPr algn="just"/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fajra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nemzetiségre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anyanyelvre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és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vallásra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tekintet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nélkül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valamennyi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állampolgár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jogegyenlőség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élvez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-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kollektív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jogokat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biztosít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elsősorban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nyelvhasználat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kérdésében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azokon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területeken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ahol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lakosságnak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legalább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30%-a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közös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román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nyelvet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beszél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1945. február 9: az „idegen vagyonok” kisajátításával kapcsolatos törvény, amelynek következtében 30 ezer magyar nemzetiségű román állampolgárt fosztottak meg ingó és ingatlan vagyonától.  A kisajátított vagyonok az Ellenséges Vagyonokat Kezelő és Ellenőrző Intézet (CASBI) kezelésébe kerültek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7707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>
            <a:extLst>
              <a:ext uri="{FF2B5EF4-FFF2-40B4-BE49-F238E27FC236}">
                <a16:creationId xmlns:a16="http://schemas.microsoft.com/office/drawing/2014/main" id="{9AB376E2-13E8-476E-8A07-2D6CC3B9858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80313" y="2016125"/>
            <a:ext cx="8014362" cy="3449638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90000"/>
              </a:lnSpc>
              <a:buFontTx/>
              <a:buChar char="-"/>
            </a:pPr>
            <a:r>
              <a:rPr lang="hu-HU" altLang="hu-H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1945. március 6-án Mihály király a kommunisták által támogatott Petru Grozát miniszterelnöknek nevezte ki</a:t>
            </a:r>
            <a:endParaRPr lang="hu-H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 1945.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március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23-án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megjelent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földreformtörvény</a:t>
            </a:r>
            <a:r>
              <a:rPr lang="hu-H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zintén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tartalmazott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néhány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olyan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jogszabályt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amely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kisebbségeket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súlyosan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érintette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.–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egész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Romániát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100%-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nak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véve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kisajátítás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által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érintett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személyek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94,6%-a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és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kisajátított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földterületek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49,0%-a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történelmi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Erdélyre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és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Bánságra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esett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ADB2C753-1E30-48C5-B359-0E6B37D5A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7117" y="835394"/>
            <a:ext cx="3564570" cy="484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8071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>
            <a:extLst>
              <a:ext uri="{FF2B5EF4-FFF2-40B4-BE49-F238E27FC236}">
                <a16:creationId xmlns:a16="http://schemas.microsoft.com/office/drawing/2014/main" id="{8C123DA9-D893-454C-BF6F-DDB846DBF85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0"/>
            <a:ext cx="5938838" cy="5465763"/>
          </a:xfrm>
        </p:spPr>
        <p:txBody>
          <a:bodyPr>
            <a:normAutofit/>
          </a:bodyPr>
          <a:lstStyle/>
          <a:p>
            <a:pPr marL="0" indent="0" eaLnBrk="1" hangingPunct="1">
              <a:lnSpc>
                <a:spcPct val="90000"/>
              </a:lnSpc>
              <a:buFont typeface="Wingdings 3" panose="05040102010807070707" pitchFamily="18" charset="2"/>
              <a:buNone/>
            </a:pPr>
            <a:endParaRPr lang="hu-HU" altLang="hu-HU" sz="2000" dirty="0"/>
          </a:p>
          <a:p>
            <a:pPr marL="0" indent="0" algn="just" eaLnBrk="1" hangingPunct="1">
              <a:lnSpc>
                <a:spcPct val="90000"/>
              </a:lnSpc>
              <a:buFont typeface="Wingdings 3" panose="05040102010807070707" pitchFamily="18" charset="2"/>
              <a:buNone/>
            </a:pPr>
            <a:r>
              <a:rPr lang="hu-HU" alt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 „király-sztrájk” I. Mihály ellenállása a kialakult helyzettel szemben, a Groza kormányba bekerült egy liberális és egy parasztpárti miniszter is</a:t>
            </a:r>
          </a:p>
          <a:p>
            <a:pPr marL="0" indent="0" algn="just" eaLnBrk="1" hangingPunct="1">
              <a:lnSpc>
                <a:spcPct val="90000"/>
              </a:lnSpc>
              <a:buFont typeface="Wingdings 3" panose="05040102010807070707" pitchFamily="18" charset="2"/>
              <a:buNone/>
            </a:pPr>
            <a:r>
              <a:rPr lang="hu-HU" alt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az 1946. novemberi választások hamisított eredményei nyomán kommunista többségű országgyűlés alakult</a:t>
            </a:r>
          </a:p>
          <a:p>
            <a:pPr marL="0" indent="0" algn="just" eaLnBrk="1" hangingPunct="1">
              <a:lnSpc>
                <a:spcPct val="90000"/>
              </a:lnSpc>
              <a:buFont typeface="Wingdings 3" panose="05040102010807070707" pitchFamily="18" charset="2"/>
              <a:buNone/>
            </a:pPr>
            <a:r>
              <a:rPr lang="hu-HU" alt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 párizsi békeszerződésben véglegesítették Románia háború utáni helyzetét</a:t>
            </a:r>
          </a:p>
          <a:p>
            <a:pPr marL="0" indent="0" algn="just" eaLnBrk="1" hangingPunct="1">
              <a:lnSpc>
                <a:spcPct val="90000"/>
              </a:lnSpc>
              <a:buFont typeface="Wingdings 3" panose="05040102010807070707" pitchFamily="18" charset="2"/>
              <a:buNone/>
            </a:pPr>
            <a:r>
              <a:rPr lang="hu-HU" alt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- 1947-ben a Parasztpárt vezetőit árulással vádolták meg és letartóztatták </a:t>
            </a:r>
            <a:r>
              <a:rPr lang="ro-RO" alt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(Tămădău</a:t>
            </a:r>
            <a:r>
              <a:rPr lang="hu-HU" alt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-ügy</a:t>
            </a:r>
            <a:r>
              <a:rPr lang="ro-RO" alt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hu-HU" alt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Nemzeti Liberális Párt saját magát feloszlatta, végül december 30-án lemondásra kényszerítették a királyt és kikiáltották a Román Népköztársaságot </a:t>
            </a:r>
            <a:r>
              <a:rPr lang="ro-RO" alt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(Republica Populară Română)</a:t>
            </a:r>
            <a:endParaRPr lang="en-US" altLang="hu-H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hu-HU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3B4890BA-4E99-46DC-9E73-0D1F6AF55B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04186"/>
            <a:ext cx="5923675" cy="3532812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F244BA9F-940E-477E-A0E5-40DEA7C686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5266" y="4113791"/>
            <a:ext cx="7646633" cy="2703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947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231C490-2F47-45D1-9B0B-185D93629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3D878A8-F2E7-4BA7-8E93-27AFAB008E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899" y="2015732"/>
            <a:ext cx="10974955" cy="3450613"/>
          </a:xfrm>
        </p:spPr>
        <p:txBody>
          <a:bodyPr/>
          <a:lstStyle/>
          <a:p>
            <a:pPr algn="just"/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1947 folyamán átszervezték a Magyar Nép Szövetséget – a Román Kommunista Párt iránt elkötelezett személyekkel váltották fel – központi és megyei vezetőségeit, és legfontosabb intézményeit Kolozsvárról Bukarestbe költöztették. </a:t>
            </a:r>
          </a:p>
          <a:p>
            <a:pPr algn="just"/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Ebben az időszakban egyébként az erdélyi magyarság számos nagy múltú intézményét is felszámolták: többek között az Erdélyi Magyar Gazdasági Egyesületet, az Erdélyi Tudományos Intézetet, az Erdélyi Múzeum Egyesületet, az Erdélyi Magyar Közművelődési Egyesületet. </a:t>
            </a:r>
          </a:p>
          <a:p>
            <a:pPr algn="just"/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1947. dec. 30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lemondatják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királyt és kikiáltják a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Román Népköztársaságot (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Republica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Popular</a:t>
            </a:r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ă România)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5828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8641230-EB36-4943-A250-04F4FD8A5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F9E0343-0C2D-4EA0-AA00-2196A6CD3C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655" y="2015732"/>
            <a:ext cx="12020364" cy="3450613"/>
          </a:xfrm>
        </p:spPr>
        <p:txBody>
          <a:bodyPr>
            <a:no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1948-ban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hajtották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végre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az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ún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tanügyi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reformot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az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iskolák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államosítását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reform – mint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más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kelet-európai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országokban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itt is a társadalmi ellenőrzést akarta kiterjeszteni az iskolák felett. Elsősorban nem nemzeti fogantatású intézkedés volt, következményeiben azonban mégis a nemzetiségeket érintette legérzékenyebben. </a:t>
            </a:r>
          </a:p>
          <a:p>
            <a:pPr algn="just"/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 iskolák államosítása Romániában az első jelentős lépés volt az önálló magyar iskolarendszer felszámolása felé, jóllehet az államosítást követően egyelőre még nem csökkent radikálisan és látványosan a magyar iskolák száma. </a:t>
            </a:r>
          </a:p>
          <a:p>
            <a:pPr algn="just"/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Pld. Marosvásárhely: Református Kollégiumból lesz 2-es számú Fiúlíceum</a:t>
            </a:r>
          </a:p>
          <a:p>
            <a:pPr algn="just"/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R.-Katolikus Főgimnáziumból lesz Leánylíceum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51289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>
            <a:extLst>
              <a:ext uri="{FF2B5EF4-FFF2-40B4-BE49-F238E27FC236}">
                <a16:creationId xmlns:a16="http://schemas.microsoft.com/office/drawing/2014/main" id="{315F9184-C64C-4761-83DC-3EE789A996A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77554" y="1621069"/>
            <a:ext cx="11558726" cy="5236931"/>
          </a:xfrm>
        </p:spPr>
        <p:txBody>
          <a:bodyPr/>
          <a:lstStyle/>
          <a:p>
            <a:r>
              <a:rPr lang="hu-HU" dirty="0"/>
              <a:t>1948. megkezdődik az államosítás</a:t>
            </a:r>
          </a:p>
          <a:p>
            <a:r>
              <a:rPr lang="hu-HU" dirty="0"/>
              <a:t>1949–1951 között koholt vádak alapján letartóztatták és elítélték a Magyar Népi Szövetség több vezetőjét, valamint a romániai magyarság politikai, gazdasági, kulturális és egyházi életének számos irányítóját. </a:t>
            </a:r>
          </a:p>
          <a:p>
            <a:r>
              <a:rPr lang="hu-HU" dirty="0"/>
              <a:t>A letartóztatottakat – miként a román nemzetiségűeket is – többéves kényszermunkára ítélték, és a Duna-delta haláltáboraiba internálták. </a:t>
            </a:r>
          </a:p>
          <a:p>
            <a:r>
              <a:rPr lang="hu-HU" dirty="0"/>
              <a:t>1953-ban – a román belpolitikában bekövetkezett változások törvényszerű következményeként – miután tevékenységét lehetetlenné tették, a Magyar Népi Szövetség feloszlatta önmagát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24022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>
            <a:extLst>
              <a:ext uri="{FF2B5EF4-FFF2-40B4-BE49-F238E27FC236}">
                <a16:creationId xmlns:a16="http://schemas.microsoft.com/office/drawing/2014/main" id="{F0753809-DFA3-4F62-AFC6-26E92F320320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68677" y="568171"/>
            <a:ext cx="7111012" cy="4897592"/>
          </a:xfrm>
        </p:spPr>
        <p:txBody>
          <a:bodyPr>
            <a:normAutofit/>
          </a:bodyPr>
          <a:lstStyle/>
          <a:p>
            <a:r>
              <a:rPr lang="hu-HU" dirty="0"/>
              <a:t>Az 1952-es alkotmány a döntően magyarlakta Székelyföldön – Marosvásárhely központtal – létrehozta a Magyar Autonóm Tartományt, amelynek határain belül a romániai magyarság mintegy 35%-a élt. </a:t>
            </a:r>
          </a:p>
          <a:p>
            <a:r>
              <a:rPr lang="hu-HU" dirty="0"/>
              <a:t>A Magyar Autonóm Tartomány létrehozása feltehetőleg kettős célt szolgált. </a:t>
            </a:r>
          </a:p>
          <a:p>
            <a:pPr lvl="1"/>
            <a:r>
              <a:rPr lang="hu-HU" dirty="0"/>
              <a:t>Egyrészt a román vezetők ily módon is igyekeztek előkészíteni a Magyar Népi Szövetség felszámolását, </a:t>
            </a:r>
          </a:p>
          <a:p>
            <a:pPr lvl="1"/>
            <a:r>
              <a:rPr lang="hu-HU" dirty="0"/>
              <a:t>Másrészt a román politika valószínűleg úgy ítélte meg, hogy elsősorban a román-magyar határ mentén, valamint a Kolozsvár környékén található magyarlakta településeket kell gyengíteni</a:t>
            </a:r>
            <a:endParaRPr lang="en-US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7A822FEE-1E4F-4E77-87C2-FA3E29889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9167" y="698970"/>
            <a:ext cx="4924156" cy="476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29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ép 1">
            <a:extLst>
              <a:ext uri="{FF2B5EF4-FFF2-40B4-BE49-F238E27FC236}">
                <a16:creationId xmlns:a16="http://schemas.microsoft.com/office/drawing/2014/main" id="{B3E634A1-D372-452F-B289-3D3C06C73E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6849" y="0"/>
            <a:ext cx="75438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6361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ép 1">
            <a:extLst>
              <a:ext uri="{FF2B5EF4-FFF2-40B4-BE49-F238E27FC236}">
                <a16:creationId xmlns:a16="http://schemas.microsoft.com/office/drawing/2014/main" id="{F817219E-1843-4B64-87BD-80D08EB2C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013" y="0"/>
            <a:ext cx="69056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7297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>
            <a:extLst>
              <a:ext uri="{FF2B5EF4-FFF2-40B4-BE49-F238E27FC236}">
                <a16:creationId xmlns:a16="http://schemas.microsoft.com/office/drawing/2014/main" id="{BFA79AF8-E417-46BB-8A10-9C62F95AA85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1651247"/>
            <a:ext cx="5791200" cy="3841503"/>
          </a:xfrm>
        </p:spPr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dirty="0" err="1"/>
              <a:t>Maros</a:t>
            </a:r>
            <a:r>
              <a:rPr lang="en-US" dirty="0"/>
              <a:t>–Magyar </a:t>
            </a:r>
            <a:r>
              <a:rPr lang="en-US" dirty="0" err="1"/>
              <a:t>Autonóm</a:t>
            </a:r>
            <a:r>
              <a:rPr lang="en-US" dirty="0"/>
              <a:t> </a:t>
            </a:r>
            <a:r>
              <a:rPr lang="en-US" dirty="0" err="1"/>
              <a:t>Tartományt</a:t>
            </a:r>
            <a:r>
              <a:rPr lang="en-US" dirty="0"/>
              <a:t> </a:t>
            </a:r>
            <a:r>
              <a:rPr lang="en-US" dirty="0" err="1"/>
              <a:t>végül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1/1968. </a:t>
            </a:r>
            <a:r>
              <a:rPr lang="en-US" dirty="0" err="1"/>
              <a:t>sz</a:t>
            </a:r>
            <a:r>
              <a:rPr lang="en-US" dirty="0"/>
              <a:t>. </a:t>
            </a:r>
            <a:r>
              <a:rPr lang="en-US" dirty="0" err="1"/>
              <a:t>törvény</a:t>
            </a:r>
            <a:r>
              <a:rPr lang="en-US" dirty="0"/>
              <a:t> </a:t>
            </a:r>
            <a:r>
              <a:rPr lang="en-US" dirty="0" err="1"/>
              <a:t>számolta</a:t>
            </a:r>
            <a:r>
              <a:rPr lang="en-US" dirty="0"/>
              <a:t> </a:t>
            </a:r>
            <a:r>
              <a:rPr lang="en-US" dirty="0" err="1"/>
              <a:t>fel</a:t>
            </a:r>
            <a:r>
              <a:rPr lang="en-US" dirty="0"/>
              <a:t> </a:t>
            </a:r>
            <a:r>
              <a:rPr lang="en-US" dirty="0" err="1"/>
              <a:t>formailag</a:t>
            </a:r>
            <a:r>
              <a:rPr lang="en-US" dirty="0"/>
              <a:t> is.</a:t>
            </a:r>
            <a:endParaRPr lang="hu-HU" dirty="0"/>
          </a:p>
          <a:p>
            <a:r>
              <a:rPr lang="en-US" dirty="0"/>
              <a:t>Az </a:t>
            </a:r>
            <a:r>
              <a:rPr lang="en-US" dirty="0" err="1"/>
              <a:t>új</a:t>
            </a:r>
            <a:r>
              <a:rPr lang="en-US" dirty="0"/>
              <a:t> </a:t>
            </a:r>
            <a:r>
              <a:rPr lang="en-US" dirty="0" err="1"/>
              <a:t>közigazgatási</a:t>
            </a:r>
            <a:r>
              <a:rPr lang="en-US" dirty="0"/>
              <a:t> </a:t>
            </a:r>
            <a:r>
              <a:rPr lang="en-US" dirty="0" err="1"/>
              <a:t>törvény</a:t>
            </a:r>
            <a:r>
              <a:rPr lang="en-US" dirty="0"/>
              <a:t> </a:t>
            </a:r>
            <a:r>
              <a:rPr lang="en-US" dirty="0" err="1"/>
              <a:t>értelmében</a:t>
            </a:r>
            <a:r>
              <a:rPr lang="en-US" dirty="0"/>
              <a:t> a </a:t>
            </a:r>
            <a:r>
              <a:rPr lang="en-US" dirty="0" err="1"/>
              <a:t>megyék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községek</a:t>
            </a:r>
            <a:r>
              <a:rPr lang="en-US" dirty="0"/>
              <a:t> </a:t>
            </a:r>
            <a:r>
              <a:rPr lang="en-US" dirty="0" err="1"/>
              <a:t>határait</a:t>
            </a:r>
            <a:r>
              <a:rPr lang="en-US" dirty="0"/>
              <a:t> </a:t>
            </a:r>
            <a:r>
              <a:rPr lang="en-US" dirty="0" err="1"/>
              <a:t>úgy</a:t>
            </a:r>
            <a:r>
              <a:rPr lang="en-US" dirty="0"/>
              <a:t> </a:t>
            </a:r>
            <a:r>
              <a:rPr lang="en-US" dirty="0" err="1"/>
              <a:t>állapították</a:t>
            </a:r>
            <a:r>
              <a:rPr lang="en-US" dirty="0"/>
              <a:t> meg,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dirty="0" err="1"/>
              <a:t>kompakt</a:t>
            </a:r>
            <a:r>
              <a:rPr lang="en-US" dirty="0"/>
              <a:t> </a:t>
            </a:r>
            <a:r>
              <a:rPr lang="en-US" dirty="0" err="1"/>
              <a:t>magyar</a:t>
            </a:r>
            <a:r>
              <a:rPr lang="en-US" dirty="0"/>
              <a:t> </a:t>
            </a:r>
            <a:r>
              <a:rPr lang="en-US" dirty="0" err="1"/>
              <a:t>településeket</a:t>
            </a:r>
            <a:r>
              <a:rPr lang="en-US" dirty="0"/>
              <a:t> </a:t>
            </a:r>
            <a:r>
              <a:rPr lang="en-US" dirty="0" err="1"/>
              <a:t>szakítottak</a:t>
            </a:r>
            <a:r>
              <a:rPr lang="en-US" dirty="0"/>
              <a:t> le </a:t>
            </a:r>
            <a:r>
              <a:rPr lang="en-US" dirty="0" err="1"/>
              <a:t>hagyományos</a:t>
            </a:r>
            <a:r>
              <a:rPr lang="en-US" dirty="0"/>
              <a:t> </a:t>
            </a:r>
            <a:r>
              <a:rPr lang="en-US" dirty="0" err="1"/>
              <a:t>központjaiktól</a:t>
            </a:r>
            <a:r>
              <a:rPr lang="en-US" dirty="0"/>
              <a:t>: a </a:t>
            </a:r>
            <a:r>
              <a:rPr lang="en-US" dirty="0" err="1"/>
              <a:t>vegyes</a:t>
            </a:r>
            <a:r>
              <a:rPr lang="en-US" dirty="0"/>
              <a:t> </a:t>
            </a:r>
            <a:r>
              <a:rPr lang="en-US" dirty="0" err="1"/>
              <a:t>lakosságú</a:t>
            </a:r>
            <a:r>
              <a:rPr lang="en-US" dirty="0"/>
              <a:t> </a:t>
            </a:r>
            <a:r>
              <a:rPr lang="en-US" dirty="0" err="1"/>
              <a:t>vidékeken</a:t>
            </a:r>
            <a:r>
              <a:rPr lang="en-US" dirty="0"/>
              <a:t> </a:t>
            </a:r>
            <a:r>
              <a:rPr lang="en-US" dirty="0" err="1"/>
              <a:t>pedig</a:t>
            </a:r>
            <a:r>
              <a:rPr lang="en-US" dirty="0"/>
              <a:t> </a:t>
            </a:r>
            <a:r>
              <a:rPr lang="en-US" dirty="0" err="1"/>
              <a:t>mindenütt</a:t>
            </a:r>
            <a:r>
              <a:rPr lang="en-US" dirty="0"/>
              <a:t> </a:t>
            </a:r>
            <a:r>
              <a:rPr lang="en-US" dirty="0" err="1"/>
              <a:t>biztosították</a:t>
            </a:r>
            <a:r>
              <a:rPr lang="en-US" dirty="0"/>
              <a:t> a </a:t>
            </a:r>
            <a:r>
              <a:rPr lang="en-US" dirty="0" err="1"/>
              <a:t>román</a:t>
            </a:r>
            <a:r>
              <a:rPr lang="en-US" dirty="0"/>
              <a:t> </a:t>
            </a:r>
            <a:r>
              <a:rPr lang="en-US" dirty="0" err="1"/>
              <a:t>többséget</a:t>
            </a:r>
            <a:r>
              <a:rPr lang="en-US" dirty="0"/>
              <a:t>. 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EA07269E-BECE-4072-AE2F-657E5C301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737632"/>
            <a:ext cx="5791200" cy="435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1081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01D0B9B-49FE-49FF-8798-AB38FDC0A7D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24288" y="94649"/>
            <a:ext cx="9604375" cy="1049337"/>
          </a:xfrm>
        </p:spPr>
        <p:txBody>
          <a:bodyPr/>
          <a:lstStyle/>
          <a:p>
            <a:r>
              <a:rPr lang="hu-HU" dirty="0"/>
              <a:t>1956 Erdélyben</a:t>
            </a:r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B72EE09-1659-4353-851D-0C214430C8A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24288" y="585926"/>
            <a:ext cx="6374166" cy="5548544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hu-HU" dirty="0"/>
              <a:t>A román politika rendkívüli veszélyként értékelte az 1956-os magyarországi forradalmat és az azzal rokonszenvező erdélyi tüntetéseket; a vezetők egyrészt saját rendszerüket féltették, másrészt Románia területi egységéért aggódtak. </a:t>
            </a:r>
          </a:p>
          <a:p>
            <a:pPr algn="just"/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Bár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Románia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területén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0" i="0" dirty="0">
                <a:effectLst/>
                <a:latin typeface="Arial" panose="020B0604020202020204" pitchFamily="34" charset="0"/>
              </a:rPr>
              <a:t>a </a:t>
            </a:r>
            <a:r>
              <a:rPr lang="en-US" dirty="0" err="1">
                <a:latin typeface="Arial" panose="020B0604020202020204" pitchFamily="34" charset="0"/>
              </a:rPr>
              <a:t>temesvári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</a:rPr>
              <a:t>tüntetése</a:t>
            </a:r>
            <a:r>
              <a:rPr lang="hu-HU" dirty="0">
                <a:latin typeface="Arial" panose="020B0604020202020204" pitchFamily="34" charset="0"/>
              </a:rPr>
              <a:t>n</a:t>
            </a:r>
            <a:r>
              <a:rPr lang="en-US" b="0" i="0" dirty="0">
                <a:effectLst/>
                <a:latin typeface="Arial" panose="020B0604020202020204" pitchFamily="34" charset="0"/>
              </a:rPr>
              <a:t> 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és</a:t>
            </a:r>
            <a:r>
              <a:rPr lang="en-US" b="0" i="0" dirty="0">
                <a:effectLst/>
                <a:latin typeface="Arial" panose="020B0604020202020204" pitchFamily="34" charset="0"/>
              </a:rPr>
              <a:t> </a:t>
            </a:r>
            <a:r>
              <a:rPr lang="en-US" dirty="0" err="1">
                <a:latin typeface="Arial" panose="020B0604020202020204" pitchFamily="34" charset="0"/>
              </a:rPr>
              <a:t>bukaresti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</a:rPr>
              <a:t>diákmegmozdulásokon</a:t>
            </a:r>
            <a:r>
              <a:rPr lang="en-US" b="0" i="0" dirty="0">
                <a:effectLst/>
                <a:latin typeface="Arial" panose="020B0604020202020204" pitchFamily="34" charset="0"/>
              </a:rPr>
              <a:t> 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kívül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nem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zajlottak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le a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magyar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forradalom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eseményeihez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hasonlók</a:t>
            </a:r>
            <a:endParaRPr lang="hu-HU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pPr algn="just"/>
            <a:r>
              <a:rPr lang="hu-HU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A </a:t>
            </a:r>
            <a:r>
              <a:rPr lang="hu-HU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Szoboszlay</a:t>
            </a:r>
            <a:r>
              <a:rPr lang="hu-HU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szervezkedés </a:t>
            </a:r>
            <a:r>
              <a:rPr lang="hu-HU" dirty="0">
                <a:latin typeface="Arial" panose="020B0604020202020204" pitchFamily="34" charset="0"/>
              </a:rPr>
              <a:t>1955</a:t>
            </a:r>
            <a:r>
              <a:rPr lang="hu-HU" b="0" i="0" dirty="0">
                <a:effectLst/>
                <a:latin typeface="Arial" panose="020B0604020202020204" pitchFamily="34" charset="0"/>
              </a:rPr>
              <a:t>–</a:t>
            </a:r>
            <a:r>
              <a:rPr lang="hu-HU" dirty="0">
                <a:latin typeface="Arial" panose="020B0604020202020204" pitchFamily="34" charset="0"/>
              </a:rPr>
              <a:t>1956</a:t>
            </a:r>
            <a:r>
              <a:rPr lang="hu-HU" b="0" i="0" dirty="0">
                <a:effectLst/>
                <a:latin typeface="Arial" panose="020B0604020202020204" pitchFamily="34" charset="0"/>
              </a:rPr>
              <a:t>-ban zajlott Erdélyben. Elindítója </a:t>
            </a:r>
            <a:r>
              <a:rPr lang="hu-HU" dirty="0" err="1">
                <a:latin typeface="Arial" panose="020B0604020202020204" pitchFamily="34" charset="0"/>
              </a:rPr>
              <a:t>Szoboszlay</a:t>
            </a:r>
            <a:r>
              <a:rPr lang="hu-HU" dirty="0">
                <a:latin typeface="Arial" panose="020B0604020202020204" pitchFamily="34" charset="0"/>
              </a:rPr>
              <a:t> Aladár</a:t>
            </a:r>
            <a:r>
              <a:rPr lang="hu-HU" b="0" i="0" dirty="0">
                <a:effectLst/>
                <a:latin typeface="Arial" panose="020B0604020202020204" pitchFamily="34" charset="0"/>
              </a:rPr>
              <a:t> </a:t>
            </a:r>
            <a:r>
              <a:rPr lang="hu-HU" dirty="0" err="1">
                <a:latin typeface="Arial" panose="020B0604020202020204" pitchFamily="34" charset="0"/>
              </a:rPr>
              <a:t>pécskai</a:t>
            </a:r>
            <a:r>
              <a:rPr lang="hu-HU" b="0" i="0" dirty="0">
                <a:effectLst/>
                <a:latin typeface="Arial" panose="020B0604020202020204" pitchFamily="34" charset="0"/>
              </a:rPr>
              <a:t> római katolikus plébános volt, aki </a:t>
            </a:r>
            <a:r>
              <a:rPr lang="hu-HU" b="0" i="1" dirty="0" err="1">
                <a:effectLst/>
                <a:latin typeface="Arial" panose="020B0604020202020204" pitchFamily="34" charset="0"/>
              </a:rPr>
              <a:t>Confederatio</a:t>
            </a:r>
            <a:r>
              <a:rPr lang="hu-HU" b="0" i="0" dirty="0">
                <a:effectLst/>
                <a:latin typeface="Arial" panose="020B0604020202020204" pitchFamily="34" charset="0"/>
              </a:rPr>
              <a:t> című művében kidolgozta egy olyan közös román-magyar államszervezet tervét, amelynek létrehozatala – elgondolása szerint – megszüntette volna az etnikai feszültségeket. </a:t>
            </a:r>
            <a:r>
              <a:rPr lang="en-US" b="0" i="0" dirty="0">
                <a:effectLst/>
                <a:latin typeface="Arial" panose="020B0604020202020204" pitchFamily="34" charset="0"/>
              </a:rPr>
              <a:t>A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szervezkedés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résztvevői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egy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fegyveres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felkelést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kívántak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kirobbantani</a:t>
            </a:r>
            <a:r>
              <a:rPr lang="hu-HU" b="0" i="0" dirty="0">
                <a:effectLst/>
                <a:latin typeface="Arial" panose="020B0604020202020204" pitchFamily="34" charset="0"/>
              </a:rPr>
              <a:t>.</a:t>
            </a:r>
            <a:r>
              <a:rPr lang="en-US" b="0" i="0" dirty="0">
                <a:effectLst/>
                <a:latin typeface="Arial" panose="020B0604020202020204" pitchFamily="34" charset="0"/>
              </a:rPr>
              <a:t> </a:t>
            </a:r>
            <a:endParaRPr lang="hu-HU" b="0" i="0" dirty="0">
              <a:effectLst/>
              <a:latin typeface="Arial" panose="020B0604020202020204" pitchFamily="34" charset="0"/>
            </a:endParaRP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3158A570-EDD8-46C7-AC85-6D59DAF1A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1405" y="1242874"/>
            <a:ext cx="5256307" cy="3658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3509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>
            <a:extLst>
              <a:ext uri="{FF2B5EF4-FFF2-40B4-BE49-F238E27FC236}">
                <a16:creationId xmlns:a16="http://schemas.microsoft.com/office/drawing/2014/main" id="{348BDCFB-20E2-4D7D-A4DB-49C9CC5C00B3}"/>
              </a:ext>
            </a:extLst>
          </p:cNvPr>
          <p:cNvSpPr txBox="1"/>
          <p:nvPr/>
        </p:nvSpPr>
        <p:spPr>
          <a:xfrm>
            <a:off x="157579" y="106429"/>
            <a:ext cx="499147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hu-HU" dirty="0">
                <a:latin typeface="Arial" panose="020B0604020202020204" pitchFamily="34" charset="0"/>
              </a:rPr>
              <a:t>A szervezkedést leleplezték. A per </a:t>
            </a:r>
            <a:r>
              <a:rPr lang="en-US" dirty="0">
                <a:latin typeface="Arial" panose="020B0604020202020204" pitchFamily="34" charset="0"/>
              </a:rPr>
              <a:t>1957</a:t>
            </a:r>
            <a:r>
              <a:rPr lang="en-US" b="0" i="0" dirty="0">
                <a:effectLst/>
                <a:latin typeface="Arial" panose="020B0604020202020204" pitchFamily="34" charset="0"/>
              </a:rPr>
              <a:t>–</a:t>
            </a:r>
            <a:r>
              <a:rPr lang="en-US" dirty="0">
                <a:latin typeface="Arial" panose="020B0604020202020204" pitchFamily="34" charset="0"/>
              </a:rPr>
              <a:t>1958</a:t>
            </a:r>
            <a:r>
              <a:rPr lang="en-US" b="0" i="0" dirty="0">
                <a:effectLst/>
                <a:latin typeface="Arial" panose="020B0604020202020204" pitchFamily="34" charset="0"/>
              </a:rPr>
              <a:t>-ban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zajlott</a:t>
            </a:r>
            <a:r>
              <a:rPr lang="en-US" b="0" i="0" dirty="0">
                <a:effectLst/>
                <a:latin typeface="Arial" panose="020B0604020202020204" pitchFamily="34" charset="0"/>
              </a:rPr>
              <a:t>,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és</a:t>
            </a:r>
            <a:r>
              <a:rPr lang="en-US" b="0" i="0" dirty="0">
                <a:effectLst/>
                <a:latin typeface="Arial" panose="020B0604020202020204" pitchFamily="34" charset="0"/>
              </a:rPr>
              <a:t> a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legkegyetlenebb</a:t>
            </a:r>
            <a:r>
              <a:rPr lang="en-US" b="0" i="0" dirty="0">
                <a:effectLst/>
                <a:latin typeface="Arial" panose="020B0604020202020204" pitchFamily="34" charset="0"/>
              </a:rPr>
              <a:t> per volt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az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összes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hasonló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büntetőeljárás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közül</a:t>
            </a:r>
            <a:r>
              <a:rPr lang="en-US" b="0" i="0" dirty="0">
                <a:effectLst/>
                <a:latin typeface="Arial" panose="020B0604020202020204" pitchFamily="34" charset="0"/>
              </a:rPr>
              <a:t> </a:t>
            </a:r>
            <a:r>
              <a:rPr lang="en-US" dirty="0" err="1">
                <a:latin typeface="Arial" panose="020B0604020202020204" pitchFamily="34" charset="0"/>
              </a:rPr>
              <a:t>Romániában</a:t>
            </a:r>
            <a:r>
              <a:rPr lang="en-US" b="0" i="0" dirty="0">
                <a:effectLst/>
                <a:latin typeface="Arial" panose="020B0604020202020204" pitchFamily="34" charset="0"/>
              </a:rPr>
              <a:t>. Az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eljárás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során</a:t>
            </a:r>
            <a:r>
              <a:rPr lang="en-US" b="0" i="0" dirty="0">
                <a:effectLst/>
                <a:latin typeface="Arial" panose="020B0604020202020204" pitchFamily="34" charset="0"/>
              </a:rPr>
              <a:t> 57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főt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állítottak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bíróság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elé</a:t>
            </a:r>
            <a:r>
              <a:rPr lang="en-US" b="0" i="0" dirty="0">
                <a:effectLst/>
                <a:latin typeface="Arial" panose="020B0604020202020204" pitchFamily="34" charset="0"/>
              </a:rPr>
              <a:t>,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akik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közül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tízet</a:t>
            </a:r>
            <a:r>
              <a:rPr lang="en-US" b="0" i="0" dirty="0">
                <a:effectLst/>
                <a:latin typeface="Arial" panose="020B0604020202020204" pitchFamily="34" charset="0"/>
              </a:rPr>
              <a:t> ki is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végeztek</a:t>
            </a:r>
            <a:r>
              <a:rPr lang="en-US" b="0" i="0" dirty="0">
                <a:effectLst/>
                <a:latin typeface="Arial" panose="020B0604020202020204" pitchFamily="34" charset="0"/>
              </a:rPr>
              <a:t>.</a:t>
            </a:r>
            <a:endParaRPr lang="hu-HU" dirty="0"/>
          </a:p>
          <a:p>
            <a:pPr algn="just"/>
            <a:endParaRPr lang="hu-HU" dirty="0"/>
          </a:p>
          <a:p>
            <a:pPr algn="just"/>
            <a:r>
              <a:rPr lang="hu-HU" dirty="0"/>
              <a:t>A magyarországi forradalom leverése után Erdélyben letartóztatások kezdődtek, 1957 januárjában az egész romániai magyarságra kiterjesztették a revizionizmus vádját, majd ezt követően számos magyarellenes intézkedést foganatosítottak. Ekkor kezdték meg a magyar tannyelvű iskolák egyesítését román tanintézetekkel. Közben – mintegy ellentételezésként – párthatározat rögzítette, hogy az egyetemekre magyar nyelven is lehet </a:t>
            </a:r>
            <a:r>
              <a:rPr lang="hu-HU" dirty="0" err="1"/>
              <a:t>felvételizni</a:t>
            </a:r>
            <a:r>
              <a:rPr lang="hu-HU" dirty="0"/>
              <a:t>, és néhány új magyar nyelvű folyóirat megjelenését is engedélyezték</a:t>
            </a:r>
            <a:endParaRPr lang="en-US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930BDCB1-2DFB-4C93-9878-394BD24E42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131" y="54042"/>
            <a:ext cx="3852308" cy="540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2250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A70B4F9-B56A-4902-946B-DB36E42D1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1956 körül</a:t>
            </a:r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2DDB38A-4B0C-45F5-86AA-04D815BFB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15732"/>
            <a:ext cx="12191999" cy="3450613"/>
          </a:xfrm>
        </p:spPr>
        <p:txBody>
          <a:bodyPr>
            <a:normAutofit fontScale="92500" lnSpcReduction="20000"/>
          </a:bodyPr>
          <a:lstStyle/>
          <a:p>
            <a:r>
              <a:rPr lang="hu-HU" dirty="0" err="1"/>
              <a:t>Jordáky</a:t>
            </a:r>
            <a:r>
              <a:rPr lang="hu-HU" dirty="0"/>
              <a:t> Lajos egyetemi tanár 1956. október 3-án jegyezte fel naplójában a Miron </a:t>
            </a:r>
            <a:r>
              <a:rPr lang="hu-HU" dirty="0" err="1"/>
              <a:t>Constantinescuval</a:t>
            </a:r>
            <a:r>
              <a:rPr lang="hu-HU" dirty="0"/>
              <a:t> folytatott megbeszélések </a:t>
            </a:r>
            <a:r>
              <a:rPr lang="hu-HU" dirty="0" err="1"/>
              <a:t>summázatát</a:t>
            </a:r>
            <a:r>
              <a:rPr lang="hu-HU" dirty="0"/>
              <a:t>: „A nemzetiségi kérdésben bekövetkezett a fordulat. Bár még eddig mindig idegenkedik a Párt a kérdés elvszerű és teljes megoldásától. Egyelőre rendezik a legkirívóbb sérelmeket kulturális fronton.”</a:t>
            </a:r>
          </a:p>
          <a:p>
            <a:r>
              <a:rPr lang="hu-HU" dirty="0"/>
              <a:t>Ma már tudjuk: nem fordulatról volt szó, hanem a helyzet által diktált kényszerű taktikai engedményekről, amelyek, sajnos, nem bizonyultak hosszú távúnak. </a:t>
            </a:r>
          </a:p>
          <a:p>
            <a:r>
              <a:rPr lang="hu-HU" dirty="0"/>
              <a:t>Közérzetjavító intézkedés volt, hogy néhány erdélyi városban tagozati szinten visszaállították az egykori magyar elméleti iskolákat (</a:t>
            </a:r>
            <a:r>
              <a:rPr lang="hu-HU" dirty="0" err="1"/>
              <a:t>Szilágysomlyó</a:t>
            </a:r>
            <a:r>
              <a:rPr lang="hu-HU" dirty="0"/>
              <a:t>, Szilágycseh, Szászrégen, </a:t>
            </a:r>
            <a:r>
              <a:rPr lang="hu-HU" dirty="0" err="1"/>
              <a:t>Szecseleváros</a:t>
            </a:r>
            <a:r>
              <a:rPr lang="hu-HU" dirty="0"/>
              <a:t>, Székelyhíd, Székelykeresztúr stb.). </a:t>
            </a:r>
          </a:p>
          <a:p>
            <a:r>
              <a:rPr lang="hu-HU" dirty="0"/>
              <a:t>Újra patinás nevet kaphattak az egykori híres középiskolák (Kolozsváron így lett Brassai Sámuel középiskola, Szatmáron Kölcsey középiskola), Marosvásárhelyen megünnepelhették a Bolyai Farkas Középiskola 400 éves fennállását. 1957 őszén Ady Endre nevét vette fel a kolozsvári Farkas utcai, egykori híres református kollégium.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7564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4BC1195-7A14-4810-9681-DC43CF0C7D5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8534" y="162718"/>
            <a:ext cx="9604375" cy="1049337"/>
          </a:xfrm>
        </p:spPr>
        <p:txBody>
          <a:bodyPr/>
          <a:lstStyle/>
          <a:p>
            <a:r>
              <a:rPr lang="hu-HU" dirty="0"/>
              <a:t>1956 után</a:t>
            </a:r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A7B221B-E700-4454-82FA-20563E4F054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692457"/>
            <a:ext cx="7785717" cy="5478155"/>
          </a:xfrm>
        </p:spPr>
        <p:txBody>
          <a:bodyPr>
            <a:normAutofit fontScale="92500"/>
          </a:bodyPr>
          <a:lstStyle/>
          <a:p>
            <a:r>
              <a:rPr lang="en-US" dirty="0"/>
              <a:t>A </a:t>
            </a:r>
            <a:r>
              <a:rPr lang="en-US" dirty="0" err="1"/>
              <a:t>sajtóban</a:t>
            </a:r>
            <a:r>
              <a:rPr lang="en-US" dirty="0"/>
              <a:t> most </a:t>
            </a:r>
            <a:r>
              <a:rPr lang="en-US" dirty="0" err="1"/>
              <a:t>már</a:t>
            </a:r>
            <a:r>
              <a:rPr lang="en-US" dirty="0"/>
              <a:t> </a:t>
            </a:r>
            <a:r>
              <a:rPr lang="en-US" dirty="0" err="1"/>
              <a:t>újult</a:t>
            </a:r>
            <a:r>
              <a:rPr lang="en-US" dirty="0"/>
              <a:t> </a:t>
            </a:r>
            <a:r>
              <a:rPr lang="en-US" dirty="0" err="1"/>
              <a:t>erővel</a:t>
            </a:r>
            <a:r>
              <a:rPr lang="en-US" dirty="0"/>
              <a:t> </a:t>
            </a:r>
            <a:r>
              <a:rPr lang="en-US" dirty="0" err="1"/>
              <a:t>indulhatott</a:t>
            </a:r>
            <a:r>
              <a:rPr lang="en-US" dirty="0"/>
              <a:t> </a:t>
            </a:r>
            <a:r>
              <a:rPr lang="en-US" dirty="0" err="1"/>
              <a:t>kampány</a:t>
            </a:r>
            <a:r>
              <a:rPr lang="en-US" dirty="0"/>
              <a:t> a „</a:t>
            </a:r>
            <a:r>
              <a:rPr lang="en-US" dirty="0" err="1"/>
              <a:t>kulturális</a:t>
            </a:r>
            <a:r>
              <a:rPr lang="en-US" dirty="0"/>
              <a:t> </a:t>
            </a:r>
            <a:r>
              <a:rPr lang="en-US" dirty="0" err="1"/>
              <a:t>szeparatizmus</a:t>
            </a:r>
            <a:r>
              <a:rPr lang="en-US" dirty="0"/>
              <a:t>” </a:t>
            </a:r>
            <a:r>
              <a:rPr lang="en-US" dirty="0" err="1"/>
              <a:t>minden</a:t>
            </a:r>
            <a:r>
              <a:rPr lang="en-US" dirty="0"/>
              <a:t> </a:t>
            </a:r>
            <a:r>
              <a:rPr lang="en-US" dirty="0" err="1"/>
              <a:t>megnyilvánulása</a:t>
            </a:r>
            <a:r>
              <a:rPr lang="en-US" dirty="0"/>
              <a:t> </a:t>
            </a:r>
            <a:r>
              <a:rPr lang="en-US" dirty="0" err="1"/>
              <a:t>ellen</a:t>
            </a:r>
            <a:r>
              <a:rPr lang="en-US" dirty="0"/>
              <a:t>, s </a:t>
            </a:r>
            <a:r>
              <a:rPr lang="en-US" dirty="0" err="1"/>
              <a:t>ez</a:t>
            </a:r>
            <a:r>
              <a:rPr lang="en-US" dirty="0"/>
              <a:t> a </a:t>
            </a:r>
            <a:r>
              <a:rPr lang="en-US" dirty="0" err="1"/>
              <a:t>vád</a:t>
            </a:r>
            <a:r>
              <a:rPr lang="en-US" dirty="0"/>
              <a:t> </a:t>
            </a:r>
            <a:r>
              <a:rPr lang="en-US" dirty="0" err="1"/>
              <a:t>mindig</a:t>
            </a:r>
            <a:r>
              <a:rPr lang="en-US" dirty="0"/>
              <a:t> a </a:t>
            </a:r>
            <a:r>
              <a:rPr lang="en-US" dirty="0" err="1"/>
              <a:t>nemzetiségeket</a:t>
            </a:r>
            <a:r>
              <a:rPr lang="en-US" dirty="0"/>
              <a:t> </a:t>
            </a:r>
            <a:r>
              <a:rPr lang="en-US" dirty="0" err="1"/>
              <a:t>illette</a:t>
            </a:r>
            <a:r>
              <a:rPr lang="en-US" dirty="0"/>
              <a:t>. </a:t>
            </a:r>
            <a:endParaRPr lang="hu-HU" dirty="0"/>
          </a:p>
          <a:p>
            <a:r>
              <a:rPr lang="en-US" dirty="0"/>
              <a:t>Az 1958. </a:t>
            </a:r>
            <a:r>
              <a:rPr lang="en-US" dirty="0" err="1"/>
              <a:t>október</a:t>
            </a:r>
            <a:r>
              <a:rPr lang="en-US" dirty="0"/>
              <a:t> 1-jei </a:t>
            </a:r>
            <a:r>
              <a:rPr lang="en-US" dirty="0" err="1"/>
              <a:t>tanévnyitás</a:t>
            </a:r>
            <a:r>
              <a:rPr lang="en-US" dirty="0"/>
              <a:t> a </a:t>
            </a:r>
            <a:r>
              <a:rPr lang="en-US" dirty="0" err="1"/>
              <a:t>Bolyai</a:t>
            </a:r>
            <a:r>
              <a:rPr lang="en-US" dirty="0"/>
              <a:t> </a:t>
            </a:r>
            <a:r>
              <a:rPr lang="en-US" dirty="0" err="1"/>
              <a:t>Tudományegyetemen</a:t>
            </a:r>
            <a:r>
              <a:rPr lang="en-US" dirty="0"/>
              <a:t> </a:t>
            </a:r>
            <a:r>
              <a:rPr lang="en-US" dirty="0" err="1"/>
              <a:t>már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új</a:t>
            </a:r>
            <a:r>
              <a:rPr lang="en-US" dirty="0"/>
              <a:t> </a:t>
            </a:r>
            <a:r>
              <a:rPr lang="en-US" dirty="0" err="1"/>
              <a:t>kampány</a:t>
            </a:r>
            <a:r>
              <a:rPr lang="en-US" dirty="0"/>
              <a:t> </a:t>
            </a:r>
            <a:r>
              <a:rPr lang="en-US" dirty="0" err="1"/>
              <a:t>jegyében</a:t>
            </a:r>
            <a:r>
              <a:rPr lang="en-US" dirty="0"/>
              <a:t> indult, a </a:t>
            </a:r>
            <a:r>
              <a:rPr lang="en-US" dirty="0" err="1"/>
              <a:t>szeparatizmus</a:t>
            </a:r>
            <a:r>
              <a:rPr lang="en-US" dirty="0"/>
              <a:t> a </a:t>
            </a:r>
            <a:r>
              <a:rPr lang="en-US" dirty="0" err="1"/>
              <a:t>revizionizmus</a:t>
            </a:r>
            <a:r>
              <a:rPr lang="en-US" dirty="0"/>
              <a:t> </a:t>
            </a:r>
            <a:r>
              <a:rPr lang="en-US" dirty="0" err="1"/>
              <a:t>vádjával</a:t>
            </a:r>
            <a:r>
              <a:rPr lang="en-US" dirty="0"/>
              <a:t> </a:t>
            </a:r>
            <a:r>
              <a:rPr lang="en-US" dirty="0" err="1"/>
              <a:t>párosult</a:t>
            </a:r>
            <a:r>
              <a:rPr lang="en-US" dirty="0"/>
              <a:t>, </a:t>
            </a:r>
            <a:endParaRPr lang="hu-HU" dirty="0"/>
          </a:p>
          <a:p>
            <a:r>
              <a:rPr lang="en-US" dirty="0"/>
              <a:t>A </a:t>
            </a:r>
            <a:r>
              <a:rPr lang="en-US" dirty="0" err="1"/>
              <a:t>szeparatizmus</a:t>
            </a:r>
            <a:r>
              <a:rPr lang="en-US" dirty="0"/>
              <a:t> </a:t>
            </a:r>
            <a:r>
              <a:rPr lang="en-US" dirty="0" err="1"/>
              <a:t>elleni</a:t>
            </a:r>
            <a:r>
              <a:rPr lang="en-US" dirty="0"/>
              <a:t> </a:t>
            </a:r>
            <a:r>
              <a:rPr lang="en-US" dirty="0" err="1"/>
              <a:t>harc</a:t>
            </a:r>
            <a:r>
              <a:rPr lang="en-US" dirty="0"/>
              <a:t> </a:t>
            </a:r>
            <a:r>
              <a:rPr lang="en-US" dirty="0" err="1"/>
              <a:t>jegyében</a:t>
            </a:r>
            <a:r>
              <a:rPr lang="en-US" dirty="0"/>
              <a:t> „</a:t>
            </a:r>
            <a:r>
              <a:rPr lang="en-US" dirty="0" err="1"/>
              <a:t>egyesítették</a:t>
            </a:r>
            <a:r>
              <a:rPr lang="en-US" dirty="0"/>
              <a:t>” 1959-ben a </a:t>
            </a:r>
            <a:r>
              <a:rPr lang="en-US" dirty="0" err="1"/>
              <a:t>kolozsvári</a:t>
            </a:r>
            <a:r>
              <a:rPr lang="en-US" dirty="0"/>
              <a:t> </a:t>
            </a:r>
            <a:r>
              <a:rPr lang="en-US" dirty="0" err="1"/>
              <a:t>román</a:t>
            </a:r>
            <a:r>
              <a:rPr lang="en-US" dirty="0"/>
              <a:t> </a:t>
            </a:r>
            <a:r>
              <a:rPr lang="en-US" dirty="0" err="1"/>
              <a:t>Babeş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a </a:t>
            </a:r>
            <a:r>
              <a:rPr lang="en-US" dirty="0" err="1"/>
              <a:t>magyar</a:t>
            </a:r>
            <a:r>
              <a:rPr lang="en-US" dirty="0"/>
              <a:t> </a:t>
            </a:r>
            <a:r>
              <a:rPr lang="en-US" dirty="0" err="1"/>
              <a:t>Bolyai</a:t>
            </a:r>
            <a:r>
              <a:rPr lang="en-US" dirty="0"/>
              <a:t> </a:t>
            </a:r>
            <a:r>
              <a:rPr lang="en-US" dirty="0" err="1"/>
              <a:t>Tudományegyetemet</a:t>
            </a:r>
            <a:r>
              <a:rPr lang="en-US" dirty="0"/>
              <a:t>,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nagy</a:t>
            </a:r>
            <a:r>
              <a:rPr lang="en-US" dirty="0"/>
              <a:t> </a:t>
            </a:r>
            <a:r>
              <a:rPr lang="en-US" dirty="0" err="1"/>
              <a:t>erővel</a:t>
            </a:r>
            <a:r>
              <a:rPr lang="en-US" dirty="0"/>
              <a:t> </a:t>
            </a:r>
            <a:r>
              <a:rPr lang="en-US" dirty="0" err="1"/>
              <a:t>folyt</a:t>
            </a:r>
            <a:r>
              <a:rPr lang="en-US" dirty="0"/>
              <a:t> a </a:t>
            </a:r>
            <a:r>
              <a:rPr lang="en-US" dirty="0" err="1"/>
              <a:t>többi</a:t>
            </a:r>
            <a:r>
              <a:rPr lang="en-US" dirty="0"/>
              <a:t> </a:t>
            </a:r>
            <a:r>
              <a:rPr lang="en-US" dirty="0" err="1"/>
              <a:t>oktatási</a:t>
            </a:r>
            <a:r>
              <a:rPr lang="en-US" dirty="0"/>
              <a:t> </a:t>
            </a:r>
            <a:r>
              <a:rPr lang="en-US" dirty="0" err="1"/>
              <a:t>intézmény</a:t>
            </a:r>
            <a:r>
              <a:rPr lang="en-US" dirty="0"/>
              <a:t> „</a:t>
            </a:r>
            <a:r>
              <a:rPr lang="en-US" dirty="0" err="1"/>
              <a:t>egyesítése</a:t>
            </a:r>
            <a:r>
              <a:rPr lang="en-US" dirty="0"/>
              <a:t>” is. </a:t>
            </a:r>
            <a:endParaRPr lang="hu-HU" dirty="0"/>
          </a:p>
          <a:p>
            <a:r>
              <a:rPr lang="en-US" dirty="0"/>
              <a:t>1959 </a:t>
            </a:r>
            <a:r>
              <a:rPr lang="en-US" dirty="0" err="1"/>
              <a:t>őszén</a:t>
            </a:r>
            <a:r>
              <a:rPr lang="en-US" dirty="0"/>
              <a:t> </a:t>
            </a:r>
            <a:r>
              <a:rPr lang="en-US" dirty="0" err="1"/>
              <a:t>így</a:t>
            </a:r>
            <a:r>
              <a:rPr lang="en-US" dirty="0"/>
              <a:t> </a:t>
            </a:r>
            <a:r>
              <a:rPr lang="en-US" dirty="0" err="1"/>
              <a:t>lett</a:t>
            </a:r>
            <a:r>
              <a:rPr lang="en-US" dirty="0"/>
              <a:t> a </a:t>
            </a:r>
            <a:r>
              <a:rPr lang="en-US" dirty="0" err="1"/>
              <a:t>kolozsvári</a:t>
            </a:r>
            <a:r>
              <a:rPr lang="en-US" dirty="0"/>
              <a:t> </a:t>
            </a:r>
            <a:r>
              <a:rPr lang="en-US" dirty="0" err="1"/>
              <a:t>Ady</a:t>
            </a:r>
            <a:r>
              <a:rPr lang="en-US" dirty="0"/>
              <a:t> </a:t>
            </a:r>
            <a:r>
              <a:rPr lang="en-US" dirty="0" err="1"/>
              <a:t>középiskolából</a:t>
            </a:r>
            <a:r>
              <a:rPr lang="en-US" dirty="0"/>
              <a:t> </a:t>
            </a:r>
            <a:r>
              <a:rPr lang="en-US" dirty="0" err="1"/>
              <a:t>Ady-Sincai</a:t>
            </a:r>
            <a:r>
              <a:rPr lang="en-US" dirty="0"/>
              <a:t> </a:t>
            </a:r>
            <a:r>
              <a:rPr lang="en-US" dirty="0" err="1"/>
              <a:t>középiskola</a:t>
            </a:r>
            <a:r>
              <a:rPr lang="en-US" dirty="0"/>
              <a:t>, </a:t>
            </a:r>
            <a:r>
              <a:rPr lang="en-US" dirty="0" err="1"/>
              <a:t>amelynek</a:t>
            </a:r>
            <a:r>
              <a:rPr lang="en-US" dirty="0"/>
              <a:t> </a:t>
            </a:r>
            <a:r>
              <a:rPr lang="en-US" dirty="0" err="1"/>
              <a:t>igazgatóját</a:t>
            </a:r>
            <a:r>
              <a:rPr lang="en-US" dirty="0"/>
              <a:t> </a:t>
            </a:r>
            <a:r>
              <a:rPr lang="en-US" dirty="0" err="1"/>
              <a:t>elmozdították</a:t>
            </a:r>
            <a:r>
              <a:rPr lang="en-US" dirty="0"/>
              <a:t>. Az </a:t>
            </a:r>
            <a:r>
              <a:rPr lang="en-US" dirty="0" err="1"/>
              <a:t>új</a:t>
            </a:r>
            <a:r>
              <a:rPr lang="en-US" dirty="0"/>
              <a:t> </a:t>
            </a:r>
            <a:r>
              <a:rPr lang="en-US" dirty="0" err="1"/>
              <a:t>igazgató</a:t>
            </a:r>
            <a:r>
              <a:rPr lang="en-US" dirty="0"/>
              <a:t> </a:t>
            </a:r>
            <a:r>
              <a:rPr lang="en-US" dirty="0" err="1"/>
              <a:t>egyelőre</a:t>
            </a:r>
            <a:r>
              <a:rPr lang="en-US" dirty="0"/>
              <a:t> </a:t>
            </a:r>
            <a:r>
              <a:rPr lang="en-US" dirty="0" err="1"/>
              <a:t>magyar</a:t>
            </a:r>
            <a:r>
              <a:rPr lang="en-US" dirty="0"/>
              <a:t> volt, de a </a:t>
            </a:r>
            <a:r>
              <a:rPr lang="en-US" dirty="0" err="1"/>
              <a:t>román</a:t>
            </a:r>
            <a:r>
              <a:rPr lang="en-US" dirty="0"/>
              <a:t> </a:t>
            </a:r>
            <a:r>
              <a:rPr lang="en-US" dirty="0" err="1"/>
              <a:t>osztályok</a:t>
            </a:r>
            <a:r>
              <a:rPr lang="en-US" dirty="0"/>
              <a:t> </a:t>
            </a:r>
            <a:r>
              <a:rPr lang="en-US" dirty="0" err="1"/>
              <a:t>számának</a:t>
            </a:r>
            <a:r>
              <a:rPr lang="en-US" dirty="0"/>
              <a:t> </a:t>
            </a:r>
            <a:r>
              <a:rPr lang="en-US" dirty="0" err="1"/>
              <a:t>szaporodásával</a:t>
            </a:r>
            <a:r>
              <a:rPr lang="en-US" dirty="0"/>
              <a:t> </a:t>
            </a:r>
            <a:r>
              <a:rPr lang="en-US" dirty="0" err="1"/>
              <a:t>kicserélődött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iskola</a:t>
            </a:r>
            <a:r>
              <a:rPr lang="en-US" dirty="0"/>
              <a:t> </a:t>
            </a:r>
            <a:r>
              <a:rPr lang="en-US" dirty="0" err="1"/>
              <a:t>igazgatósága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tanári</a:t>
            </a:r>
            <a:r>
              <a:rPr lang="en-US" dirty="0"/>
              <a:t> </a:t>
            </a:r>
            <a:r>
              <a:rPr lang="en-US" dirty="0" err="1"/>
              <a:t>kara</a:t>
            </a:r>
            <a:r>
              <a:rPr lang="en-US" dirty="0"/>
              <a:t> is. 1985-re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egykori</a:t>
            </a:r>
            <a:r>
              <a:rPr lang="en-US" dirty="0"/>
              <a:t> </a:t>
            </a:r>
            <a:r>
              <a:rPr lang="en-US" dirty="0" err="1"/>
              <a:t>magyar</a:t>
            </a:r>
            <a:r>
              <a:rPr lang="en-US" dirty="0"/>
              <a:t> </a:t>
            </a:r>
            <a:r>
              <a:rPr lang="en-US" dirty="0" err="1"/>
              <a:t>iskolát</a:t>
            </a:r>
            <a:r>
              <a:rPr lang="en-US" dirty="0"/>
              <a:t> </a:t>
            </a:r>
            <a:r>
              <a:rPr lang="en-US" dirty="0" err="1"/>
              <a:t>teljesen</a:t>
            </a:r>
            <a:r>
              <a:rPr lang="en-US" dirty="0"/>
              <a:t> </a:t>
            </a:r>
            <a:r>
              <a:rPr lang="en-US" dirty="0" err="1"/>
              <a:t>románná</a:t>
            </a:r>
            <a:r>
              <a:rPr lang="en-US" dirty="0"/>
              <a:t> </a:t>
            </a:r>
            <a:r>
              <a:rPr lang="en-US" dirty="0" err="1"/>
              <a:t>változtatták</a:t>
            </a:r>
            <a:r>
              <a:rPr lang="en-US" dirty="0"/>
              <a:t>, a </a:t>
            </a:r>
            <a:r>
              <a:rPr lang="en-US" dirty="0" err="1"/>
              <a:t>magyar</a:t>
            </a:r>
            <a:r>
              <a:rPr lang="en-US" dirty="0"/>
              <a:t> </a:t>
            </a:r>
            <a:r>
              <a:rPr lang="en-US" dirty="0" err="1"/>
              <a:t>szó</a:t>
            </a:r>
            <a:r>
              <a:rPr lang="en-US" dirty="0"/>
              <a:t> </a:t>
            </a:r>
            <a:r>
              <a:rPr lang="en-US" dirty="0" err="1"/>
              <a:t>végleg</a:t>
            </a:r>
            <a:r>
              <a:rPr lang="en-US" dirty="0"/>
              <a:t> </a:t>
            </a:r>
            <a:r>
              <a:rPr lang="en-US" dirty="0" err="1"/>
              <a:t>elnémult</a:t>
            </a:r>
            <a:r>
              <a:rPr lang="en-US" dirty="0"/>
              <a:t> a </a:t>
            </a:r>
            <a:r>
              <a:rPr lang="en-US" dirty="0" err="1"/>
              <a:t>régi</a:t>
            </a:r>
            <a:r>
              <a:rPr lang="en-US" dirty="0"/>
              <a:t> </a:t>
            </a:r>
            <a:r>
              <a:rPr lang="en-US" dirty="0" err="1"/>
              <a:t>patinás</a:t>
            </a:r>
            <a:r>
              <a:rPr lang="en-US" dirty="0"/>
              <a:t> </a:t>
            </a:r>
            <a:r>
              <a:rPr lang="en-US" dirty="0" err="1"/>
              <a:t>falak</a:t>
            </a:r>
            <a:r>
              <a:rPr lang="en-US" dirty="0"/>
              <a:t> </a:t>
            </a:r>
            <a:r>
              <a:rPr lang="en-US" dirty="0" err="1"/>
              <a:t>között</a:t>
            </a:r>
            <a:r>
              <a:rPr lang="en-US" dirty="0"/>
              <a:t>. 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1D9C822C-3871-4D80-803E-F9688AD6D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175" y="-173669"/>
            <a:ext cx="3933825" cy="634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4225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>
            <a:extLst>
              <a:ext uri="{FF2B5EF4-FFF2-40B4-BE49-F238E27FC236}">
                <a16:creationId xmlns:a16="http://schemas.microsoft.com/office/drawing/2014/main" id="{01804F80-7D16-40AA-BEA1-38B1B5A1513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2145" y="559293"/>
            <a:ext cx="12129856" cy="4906470"/>
          </a:xfrm>
        </p:spPr>
        <p:txBody>
          <a:bodyPr>
            <a:normAutofit lnSpcReduction="10000"/>
          </a:bodyPr>
          <a:lstStyle/>
          <a:p>
            <a:r>
              <a:rPr lang="hu-HU" dirty="0"/>
              <a:t>1968 novemberében – párthatározattal – létrehozták a magyar és német nemzetiségű dolgozók tanácsait; e szervezeteket azonban kizárólag csak tanácskozási joggal ruházták fel. </a:t>
            </a:r>
          </a:p>
          <a:p>
            <a:r>
              <a:rPr lang="hu-HU" dirty="0"/>
              <a:t>A Romániai Magyar Dolgozók Tanácsának alapszabályzatát sohasem dolgozták ki, vezetőségét a kormány nevezte ki. Megalakulásakor a tanács munkájában a romániai magyar kisebbség legjelentősebb képviselői is részt vettek, akik a nemzetiség sorsát érintő számos kérdést (anyanyelvhasználat kérdése, a magyar nyelvű oktatás kritikus helyzete, stb.) felvetettek az üléseken. </a:t>
            </a:r>
          </a:p>
          <a:p>
            <a:r>
              <a:rPr lang="hu-HU" dirty="0"/>
              <a:t>1971 és 1974 között azonban a tanácsot egyáltalán nem hívták össze, közben az irányító testület személyi összetételét is megváltoztatták; a magyar értelmiség prominens személyiségeinek egy részét kihagyták. </a:t>
            </a:r>
          </a:p>
          <a:p>
            <a:r>
              <a:rPr lang="hu-HU" dirty="0"/>
              <a:t>1974-től kezdve az ülések kizárólag román nyelven folytak, és a sajátos nemzetiségi problémák gyakorlatilag lekerültek a napirendről. Egyre inkább kidomborodott a tanácsok „kirakatjellege”. </a:t>
            </a:r>
          </a:p>
          <a:p>
            <a:r>
              <a:rPr lang="hu-HU" dirty="0"/>
              <a:t>A nyolcvanas évektől már kizárólag csak akkor hívták össze, ha a külföld előtt volt szükség az egységes fellépés demonstrálására.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77745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DEB9BDD-F778-4C48-AE18-305C94038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893F448-A368-4322-915A-D5FCF6326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2015732"/>
            <a:ext cx="11054854" cy="3450613"/>
          </a:xfrm>
        </p:spPr>
        <p:txBody>
          <a:bodyPr>
            <a:normAutofit/>
          </a:bodyPr>
          <a:lstStyle/>
          <a:p>
            <a:r>
              <a:rPr lang="en-US" dirty="0" err="1"/>
              <a:t>Románia</a:t>
            </a:r>
            <a:r>
              <a:rPr lang="en-US" dirty="0"/>
              <a:t> </a:t>
            </a:r>
            <a:r>
              <a:rPr lang="en-US" dirty="0" err="1"/>
              <a:t>vezetői</a:t>
            </a:r>
            <a:r>
              <a:rPr lang="en-US" dirty="0"/>
              <a:t> </a:t>
            </a:r>
            <a:r>
              <a:rPr lang="en-US" dirty="0" err="1"/>
              <a:t>már</a:t>
            </a:r>
            <a:r>
              <a:rPr lang="en-US" dirty="0"/>
              <a:t> 1972-ben </a:t>
            </a:r>
            <a:r>
              <a:rPr lang="en-US" dirty="0" err="1"/>
              <a:t>az</a:t>
            </a:r>
            <a:r>
              <a:rPr lang="en-US" dirty="0"/>
              <a:t> RKP </a:t>
            </a:r>
            <a:r>
              <a:rPr lang="en-US" dirty="0" err="1"/>
              <a:t>országos</a:t>
            </a:r>
            <a:r>
              <a:rPr lang="en-US" dirty="0"/>
              <a:t> </a:t>
            </a:r>
            <a:r>
              <a:rPr lang="en-US" dirty="0" err="1"/>
              <a:t>konferenciáján</a:t>
            </a:r>
            <a:r>
              <a:rPr lang="en-US" dirty="0"/>
              <a:t> </a:t>
            </a:r>
            <a:r>
              <a:rPr lang="en-US" dirty="0" err="1"/>
              <a:t>nyilvánosságra</a:t>
            </a:r>
            <a:r>
              <a:rPr lang="en-US" dirty="0"/>
              <a:t> </a:t>
            </a:r>
            <a:r>
              <a:rPr lang="en-US" dirty="0" err="1"/>
              <a:t>hozták</a:t>
            </a:r>
            <a:r>
              <a:rPr lang="en-US" dirty="0"/>
              <a:t> a </a:t>
            </a:r>
            <a:r>
              <a:rPr lang="en-US" dirty="0" err="1"/>
              <a:t>kisebbségek</a:t>
            </a:r>
            <a:r>
              <a:rPr lang="en-US" dirty="0"/>
              <a:t> </a:t>
            </a:r>
            <a:r>
              <a:rPr lang="en-US" dirty="0" err="1"/>
              <a:t>rövid</a:t>
            </a:r>
            <a:r>
              <a:rPr lang="en-US" dirty="0"/>
              <a:t> </a:t>
            </a:r>
            <a:r>
              <a:rPr lang="en-US" dirty="0" err="1"/>
              <a:t>távú</a:t>
            </a:r>
            <a:r>
              <a:rPr lang="en-US" dirty="0"/>
              <a:t> </a:t>
            </a:r>
            <a:r>
              <a:rPr lang="en-US" dirty="0" err="1"/>
              <a:t>beolvasztásának</a:t>
            </a:r>
            <a:r>
              <a:rPr lang="en-US" dirty="0"/>
              <a:t> – </a:t>
            </a:r>
            <a:r>
              <a:rPr lang="en-US" dirty="0" err="1"/>
              <a:t>román</a:t>
            </a:r>
            <a:r>
              <a:rPr lang="en-US" dirty="0"/>
              <a:t> </a:t>
            </a:r>
            <a:r>
              <a:rPr lang="en-US" dirty="0" err="1"/>
              <a:t>terminológiával</a:t>
            </a:r>
            <a:r>
              <a:rPr lang="en-US" dirty="0"/>
              <a:t> a </a:t>
            </a:r>
            <a:r>
              <a:rPr lang="en-US" dirty="0" err="1"/>
              <a:t>nemzeti</a:t>
            </a:r>
            <a:r>
              <a:rPr lang="en-US" dirty="0"/>
              <a:t> </a:t>
            </a:r>
            <a:r>
              <a:rPr lang="en-US" dirty="0" err="1"/>
              <a:t>homogenizálásnak</a:t>
            </a:r>
            <a:r>
              <a:rPr lang="en-US" dirty="0"/>
              <a:t> – a </a:t>
            </a:r>
            <a:r>
              <a:rPr lang="en-US" dirty="0" err="1"/>
              <a:t>tételét</a:t>
            </a:r>
            <a:r>
              <a:rPr lang="en-US" dirty="0"/>
              <a:t>.</a:t>
            </a:r>
          </a:p>
          <a:p>
            <a:r>
              <a:rPr lang="hu-HU" dirty="0"/>
              <a:t>A nemzetközi sajtó és a nyugat-európai politikusok az 1975-ös helsinki Európai Biztonsági és Együttműködési Értekezlet után kezdtek odafigyelni a romániai magyar kisebbség helyzetére. </a:t>
            </a:r>
          </a:p>
          <a:p>
            <a:r>
              <a:rPr lang="hu-HU" dirty="0"/>
              <a:t>A tényfeltárásban nagy segítséget nyújtott, hogy a hetvenes évek elejétől a magyar kisebbség néhány képviselője álnéven (Lázár György), néhányuk saját néven (Takács Lajos, a kolozsvári magyar egyetem volt rektora; Király Károly, a Román Kommunista Párt Központi Bizottságának volt tagja) memorandumokat, leveleket, helyzetértékelő jelentéseket hozott nyilvánosságra a nyugati sajtóban.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90481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30EC89B-D634-4697-A655-24E0D0930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8E271FE-20C2-4524-AD5C-C0A99892DD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" y="2015732"/>
            <a:ext cx="7190912" cy="3941185"/>
          </a:xfrm>
        </p:spPr>
        <p:txBody>
          <a:bodyPr>
            <a:normAutofit fontScale="77500" lnSpcReduction="20000"/>
          </a:bodyPr>
          <a:lstStyle/>
          <a:p>
            <a:r>
              <a:rPr lang="en-US" dirty="0" err="1"/>
              <a:t>Különösen</a:t>
            </a:r>
            <a:r>
              <a:rPr lang="en-US" dirty="0"/>
              <a:t> </a:t>
            </a:r>
            <a:r>
              <a:rPr lang="en-US" dirty="0" err="1"/>
              <a:t>figyelemre</a:t>
            </a:r>
            <a:r>
              <a:rPr lang="en-US" dirty="0"/>
              <a:t> </a:t>
            </a:r>
            <a:r>
              <a:rPr lang="en-US" dirty="0" err="1"/>
              <a:t>méltó</a:t>
            </a:r>
            <a:r>
              <a:rPr lang="en-US" dirty="0"/>
              <a:t> </a:t>
            </a:r>
            <a:r>
              <a:rPr lang="en-US" dirty="0" err="1"/>
              <a:t>Király</a:t>
            </a:r>
            <a:r>
              <a:rPr lang="en-US" dirty="0"/>
              <a:t> </a:t>
            </a:r>
            <a:r>
              <a:rPr lang="en-US" dirty="0" err="1"/>
              <a:t>Károly</a:t>
            </a:r>
            <a:r>
              <a:rPr lang="en-US" dirty="0"/>
              <a:t> </a:t>
            </a:r>
            <a:r>
              <a:rPr lang="en-US" dirty="0" err="1"/>
              <a:t>helyzete</a:t>
            </a:r>
            <a:r>
              <a:rPr lang="en-US" dirty="0"/>
              <a:t>, </a:t>
            </a:r>
            <a:r>
              <a:rPr lang="en-US" dirty="0" err="1"/>
              <a:t>aki</a:t>
            </a:r>
            <a:r>
              <a:rPr lang="en-US" dirty="0"/>
              <a:t> </a:t>
            </a:r>
            <a:r>
              <a:rPr lang="en-US" dirty="0" err="1"/>
              <a:t>Kovászna</a:t>
            </a:r>
            <a:r>
              <a:rPr lang="en-US" dirty="0"/>
              <a:t> </a:t>
            </a:r>
            <a:r>
              <a:rPr lang="en-US" dirty="0" err="1"/>
              <a:t>megye</a:t>
            </a:r>
            <a:r>
              <a:rPr lang="en-US" dirty="0"/>
              <a:t> </a:t>
            </a:r>
            <a:r>
              <a:rPr lang="en-US" dirty="0" err="1"/>
              <a:t>pártbizottságának</a:t>
            </a:r>
            <a:r>
              <a:rPr lang="en-US" dirty="0"/>
              <a:t> </a:t>
            </a:r>
            <a:r>
              <a:rPr lang="en-US" dirty="0" err="1"/>
              <a:t>első</a:t>
            </a:r>
            <a:r>
              <a:rPr lang="en-US" dirty="0"/>
              <a:t> </a:t>
            </a:r>
            <a:r>
              <a:rPr lang="en-US" dirty="0" err="1"/>
              <a:t>titkára</a:t>
            </a:r>
            <a:r>
              <a:rPr lang="en-US" dirty="0"/>
              <a:t> volt, 1975-ig a Román </a:t>
            </a:r>
            <a:r>
              <a:rPr lang="en-US" dirty="0" err="1"/>
              <a:t>Kommunista</a:t>
            </a:r>
            <a:r>
              <a:rPr lang="en-US" dirty="0"/>
              <a:t> </a:t>
            </a:r>
            <a:r>
              <a:rPr lang="en-US" dirty="0" err="1"/>
              <a:t>Párt</a:t>
            </a:r>
            <a:r>
              <a:rPr lang="en-US" dirty="0"/>
              <a:t> </a:t>
            </a:r>
            <a:r>
              <a:rPr lang="en-US" dirty="0" err="1"/>
              <a:t>Központi</a:t>
            </a:r>
            <a:r>
              <a:rPr lang="en-US" dirty="0"/>
              <a:t> </a:t>
            </a:r>
            <a:r>
              <a:rPr lang="en-US" dirty="0" err="1"/>
              <a:t>Bizottságának</a:t>
            </a:r>
            <a:r>
              <a:rPr lang="en-US" dirty="0"/>
              <a:t> a </a:t>
            </a:r>
            <a:r>
              <a:rPr lang="en-US" dirty="0" err="1"/>
              <a:t>tagja</a:t>
            </a:r>
            <a:r>
              <a:rPr lang="en-US" dirty="0"/>
              <a:t>. </a:t>
            </a:r>
            <a:endParaRPr lang="hu-HU" dirty="0"/>
          </a:p>
          <a:p>
            <a:r>
              <a:rPr lang="en-US" dirty="0"/>
              <a:t>1972-ben </a:t>
            </a:r>
            <a:r>
              <a:rPr lang="en-US" dirty="0" err="1"/>
              <a:t>bírálta</a:t>
            </a:r>
            <a:r>
              <a:rPr lang="en-US" dirty="0"/>
              <a:t> </a:t>
            </a:r>
            <a:r>
              <a:rPr lang="en-US" dirty="0" err="1"/>
              <a:t>először</a:t>
            </a:r>
            <a:r>
              <a:rPr lang="en-US" dirty="0"/>
              <a:t> a </a:t>
            </a:r>
            <a:r>
              <a:rPr lang="en-US" dirty="0" err="1"/>
              <a:t>párt</a:t>
            </a:r>
            <a:r>
              <a:rPr lang="en-US" dirty="0"/>
              <a:t> </a:t>
            </a:r>
            <a:r>
              <a:rPr lang="en-US" dirty="0" err="1"/>
              <a:t>nemzetiségi</a:t>
            </a:r>
            <a:r>
              <a:rPr lang="en-US" dirty="0"/>
              <a:t> </a:t>
            </a:r>
            <a:r>
              <a:rPr lang="en-US" dirty="0" err="1"/>
              <a:t>politikáját</a:t>
            </a:r>
            <a:r>
              <a:rPr lang="en-US" dirty="0"/>
              <a:t>, </a:t>
            </a:r>
            <a:r>
              <a:rPr lang="en-US" dirty="0" err="1"/>
              <a:t>majd</a:t>
            </a:r>
            <a:r>
              <a:rPr lang="en-US" dirty="0"/>
              <a:t> </a:t>
            </a:r>
            <a:r>
              <a:rPr lang="en-US" dirty="0" err="1"/>
              <a:t>tiltakozásul</a:t>
            </a:r>
            <a:r>
              <a:rPr lang="en-US" dirty="0"/>
              <a:t> </a:t>
            </a:r>
            <a:r>
              <a:rPr lang="en-US" dirty="0" err="1"/>
              <a:t>lemondott</a:t>
            </a:r>
            <a:r>
              <a:rPr lang="en-US" dirty="0"/>
              <a:t> </a:t>
            </a:r>
            <a:r>
              <a:rPr lang="en-US" dirty="0" err="1"/>
              <a:t>politikai</a:t>
            </a:r>
            <a:r>
              <a:rPr lang="en-US" dirty="0"/>
              <a:t> </a:t>
            </a:r>
            <a:r>
              <a:rPr lang="en-US" dirty="0" err="1"/>
              <a:t>funkcióiról</a:t>
            </a:r>
            <a:r>
              <a:rPr lang="en-US" dirty="0"/>
              <a:t>. </a:t>
            </a:r>
            <a:endParaRPr lang="hu-HU" dirty="0"/>
          </a:p>
          <a:p>
            <a:r>
              <a:rPr lang="en-US" dirty="0"/>
              <a:t>1977 </a:t>
            </a:r>
            <a:r>
              <a:rPr lang="en-US" dirty="0" err="1"/>
              <a:t>júniusától</a:t>
            </a:r>
            <a:r>
              <a:rPr lang="en-US" dirty="0"/>
              <a:t> </a:t>
            </a:r>
            <a:r>
              <a:rPr lang="en-US" dirty="0" err="1"/>
              <a:t>több</a:t>
            </a:r>
            <a:r>
              <a:rPr lang="en-US" dirty="0"/>
              <a:t> </a:t>
            </a:r>
            <a:r>
              <a:rPr lang="en-US" dirty="0" err="1"/>
              <a:t>memorandumban</a:t>
            </a:r>
            <a:r>
              <a:rPr lang="en-US" dirty="0"/>
              <a:t> </a:t>
            </a:r>
            <a:r>
              <a:rPr lang="en-US" dirty="0" err="1"/>
              <a:t>emelte</a:t>
            </a:r>
            <a:r>
              <a:rPr lang="en-US" dirty="0"/>
              <a:t> </a:t>
            </a:r>
            <a:r>
              <a:rPr lang="en-US" dirty="0" err="1"/>
              <a:t>fel</a:t>
            </a:r>
            <a:r>
              <a:rPr lang="en-US" dirty="0"/>
              <a:t> </a:t>
            </a:r>
            <a:r>
              <a:rPr lang="en-US" dirty="0" err="1"/>
              <a:t>szavát</a:t>
            </a:r>
            <a:r>
              <a:rPr lang="en-US" dirty="0"/>
              <a:t> a </a:t>
            </a:r>
            <a:r>
              <a:rPr lang="en-US" dirty="0" err="1"/>
              <a:t>romániai</a:t>
            </a:r>
            <a:r>
              <a:rPr lang="en-US" dirty="0"/>
              <a:t> </a:t>
            </a:r>
            <a:r>
              <a:rPr lang="en-US" dirty="0" err="1"/>
              <a:t>nemzetiségi</a:t>
            </a:r>
            <a:r>
              <a:rPr lang="en-US" dirty="0"/>
              <a:t> </a:t>
            </a:r>
            <a:r>
              <a:rPr lang="en-US" dirty="0" err="1"/>
              <a:t>jogtiprások</a:t>
            </a:r>
            <a:r>
              <a:rPr lang="en-US" dirty="0"/>
              <a:t> </a:t>
            </a:r>
            <a:r>
              <a:rPr lang="en-US" dirty="0" err="1"/>
              <a:t>ellen.Tiltakozásait</a:t>
            </a:r>
            <a:r>
              <a:rPr lang="en-US" dirty="0"/>
              <a:t> a </a:t>
            </a:r>
            <a:r>
              <a:rPr lang="en-US" dirty="0" err="1"/>
              <a:t>nyugati</a:t>
            </a:r>
            <a:r>
              <a:rPr lang="en-US" dirty="0"/>
              <a:t> </a:t>
            </a:r>
            <a:r>
              <a:rPr lang="en-US" dirty="0" err="1"/>
              <a:t>sajtó</a:t>
            </a:r>
            <a:r>
              <a:rPr lang="en-US" dirty="0"/>
              <a:t> is </a:t>
            </a:r>
            <a:r>
              <a:rPr lang="en-US" dirty="0" err="1"/>
              <a:t>közölte</a:t>
            </a:r>
            <a:r>
              <a:rPr lang="en-US" dirty="0"/>
              <a:t>.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ideig</a:t>
            </a:r>
            <a:r>
              <a:rPr lang="en-US" dirty="0"/>
              <a:t> </a:t>
            </a:r>
            <a:r>
              <a:rPr lang="en-US" dirty="0" err="1"/>
              <a:t>kényszerlakhelyet</a:t>
            </a:r>
            <a:r>
              <a:rPr lang="en-US" dirty="0"/>
              <a:t> </a:t>
            </a:r>
            <a:r>
              <a:rPr lang="en-US" dirty="0" err="1"/>
              <a:t>jelöltek</a:t>
            </a:r>
            <a:r>
              <a:rPr lang="en-US" dirty="0"/>
              <a:t> ki </a:t>
            </a:r>
            <a:r>
              <a:rPr lang="en-US" dirty="0" err="1"/>
              <a:t>számára</a:t>
            </a:r>
            <a:r>
              <a:rPr lang="en-US" dirty="0"/>
              <a:t>. </a:t>
            </a:r>
            <a:endParaRPr lang="hu-HU" dirty="0"/>
          </a:p>
          <a:p>
            <a:r>
              <a:rPr lang="en-US" dirty="0"/>
              <a:t>1980 </a:t>
            </a:r>
            <a:r>
              <a:rPr lang="en-US" dirty="0" err="1"/>
              <a:t>februárjában</a:t>
            </a:r>
            <a:r>
              <a:rPr lang="en-US" dirty="0"/>
              <a:t> </a:t>
            </a:r>
            <a:r>
              <a:rPr lang="en-US" dirty="0" err="1"/>
              <a:t>levélben</a:t>
            </a:r>
            <a:r>
              <a:rPr lang="en-US" dirty="0"/>
              <a:t> </a:t>
            </a:r>
            <a:r>
              <a:rPr lang="en-US" dirty="0" err="1"/>
              <a:t>fordult</a:t>
            </a:r>
            <a:r>
              <a:rPr lang="en-US" dirty="0"/>
              <a:t> a </a:t>
            </a:r>
            <a:r>
              <a:rPr lang="en-US" dirty="0" err="1"/>
              <a:t>román</a:t>
            </a:r>
            <a:r>
              <a:rPr lang="en-US" dirty="0"/>
              <a:t> </a:t>
            </a:r>
            <a:r>
              <a:rPr lang="en-US" dirty="0" err="1"/>
              <a:t>miniszterelnökhöz</a:t>
            </a:r>
            <a:r>
              <a:rPr lang="en-US" dirty="0"/>
              <a:t>, </a:t>
            </a:r>
            <a:r>
              <a:rPr lang="en-US" dirty="0" err="1"/>
              <a:t>kérve</a:t>
            </a:r>
            <a:r>
              <a:rPr lang="en-US" dirty="0"/>
              <a:t> a </a:t>
            </a:r>
            <a:r>
              <a:rPr lang="en-US" dirty="0" err="1"/>
              <a:t>román</a:t>
            </a:r>
            <a:r>
              <a:rPr lang="en-US" dirty="0"/>
              <a:t> </a:t>
            </a:r>
            <a:r>
              <a:rPr lang="en-US" dirty="0" err="1"/>
              <a:t>nemzetiségi</a:t>
            </a:r>
            <a:r>
              <a:rPr lang="en-US" dirty="0"/>
              <a:t> </a:t>
            </a:r>
            <a:r>
              <a:rPr lang="en-US" dirty="0" err="1"/>
              <a:t>politika</a:t>
            </a:r>
            <a:r>
              <a:rPr lang="en-US" dirty="0"/>
              <a:t> </a:t>
            </a:r>
            <a:r>
              <a:rPr lang="en-US" dirty="0" err="1"/>
              <a:t>sürgős</a:t>
            </a:r>
            <a:r>
              <a:rPr lang="en-US" dirty="0"/>
              <a:t> </a:t>
            </a:r>
            <a:r>
              <a:rPr lang="en-US" dirty="0" err="1"/>
              <a:t>felülvizsgálatát</a:t>
            </a:r>
            <a:r>
              <a:rPr lang="en-US" dirty="0"/>
              <a:t>. </a:t>
            </a:r>
            <a:endParaRPr lang="hu-HU" dirty="0"/>
          </a:p>
          <a:p>
            <a:r>
              <a:rPr lang="en-US" dirty="0"/>
              <a:t>1985-ben </a:t>
            </a:r>
            <a:r>
              <a:rPr lang="en-US" dirty="0" err="1"/>
              <a:t>Szőcs</a:t>
            </a:r>
            <a:r>
              <a:rPr lang="en-US" dirty="0"/>
              <a:t> </a:t>
            </a:r>
            <a:r>
              <a:rPr lang="en-US" dirty="0" err="1"/>
              <a:t>Géza</a:t>
            </a:r>
            <a:r>
              <a:rPr lang="en-US" dirty="0"/>
              <a:t> </a:t>
            </a:r>
            <a:r>
              <a:rPr lang="en-US" dirty="0" err="1"/>
              <a:t>költővel</a:t>
            </a:r>
            <a:r>
              <a:rPr lang="en-US" dirty="0"/>
              <a:t>, </a:t>
            </a:r>
            <a:r>
              <a:rPr lang="en-US" dirty="0" err="1"/>
              <a:t>Dorin</a:t>
            </a:r>
            <a:r>
              <a:rPr lang="en-US" dirty="0"/>
              <a:t> </a:t>
            </a:r>
            <a:r>
              <a:rPr lang="en-US" dirty="0" err="1"/>
              <a:t>Tudoran</a:t>
            </a:r>
            <a:r>
              <a:rPr lang="en-US" dirty="0"/>
              <a:t> </a:t>
            </a:r>
            <a:r>
              <a:rPr lang="en-US" dirty="0" err="1"/>
              <a:t>román</a:t>
            </a:r>
            <a:r>
              <a:rPr lang="en-US" dirty="0"/>
              <a:t> </a:t>
            </a:r>
            <a:r>
              <a:rPr lang="en-US" dirty="0" err="1"/>
              <a:t>íróval</a:t>
            </a:r>
            <a:r>
              <a:rPr lang="en-US" dirty="0"/>
              <a:t> </a:t>
            </a:r>
            <a:r>
              <a:rPr lang="en-US" dirty="0" err="1"/>
              <a:t>együtt</a:t>
            </a:r>
            <a:r>
              <a:rPr lang="en-US" dirty="0"/>
              <a:t> </a:t>
            </a:r>
            <a:r>
              <a:rPr lang="en-US" dirty="0" err="1"/>
              <a:t>aláírta</a:t>
            </a:r>
            <a:r>
              <a:rPr lang="en-US" dirty="0"/>
              <a:t> </a:t>
            </a:r>
            <a:r>
              <a:rPr lang="en-US" dirty="0" err="1"/>
              <a:t>azt</a:t>
            </a:r>
            <a:r>
              <a:rPr lang="en-US" dirty="0"/>
              <a:t> a </a:t>
            </a:r>
            <a:r>
              <a:rPr lang="en-US" dirty="0" err="1"/>
              <a:t>nyilatkozatot</a:t>
            </a:r>
            <a:r>
              <a:rPr lang="en-US" dirty="0"/>
              <a:t>, </a:t>
            </a:r>
            <a:r>
              <a:rPr lang="en-US" dirty="0" err="1"/>
              <a:t>amelyben</a:t>
            </a:r>
            <a:r>
              <a:rPr lang="en-US" dirty="0"/>
              <a:t> </a:t>
            </a:r>
            <a:r>
              <a:rPr lang="en-US" dirty="0" err="1"/>
              <a:t>javasolták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ENSZ </a:t>
            </a:r>
            <a:r>
              <a:rPr lang="en-US" dirty="0" err="1"/>
              <a:t>hozzon</a:t>
            </a:r>
            <a:r>
              <a:rPr lang="en-US" dirty="0"/>
              <a:t> </a:t>
            </a:r>
            <a:r>
              <a:rPr lang="en-US" dirty="0" err="1"/>
              <a:t>létre</a:t>
            </a:r>
            <a:r>
              <a:rPr lang="en-US" dirty="0"/>
              <a:t> </a:t>
            </a:r>
            <a:r>
              <a:rPr lang="en-US" dirty="0" err="1"/>
              <a:t>külön</a:t>
            </a:r>
            <a:r>
              <a:rPr lang="en-US" dirty="0"/>
              <a:t> </a:t>
            </a:r>
            <a:r>
              <a:rPr lang="en-US" dirty="0" err="1"/>
              <a:t>szervezetet</a:t>
            </a:r>
            <a:r>
              <a:rPr lang="en-US" dirty="0"/>
              <a:t> a </a:t>
            </a:r>
            <a:r>
              <a:rPr lang="en-US" dirty="0" err="1"/>
              <a:t>nemzeti</a:t>
            </a:r>
            <a:r>
              <a:rPr lang="en-US" dirty="0"/>
              <a:t> </a:t>
            </a:r>
            <a:r>
              <a:rPr lang="en-US" dirty="0" err="1"/>
              <a:t>kisebbségek</a:t>
            </a:r>
            <a:r>
              <a:rPr lang="en-US" dirty="0"/>
              <a:t> </a:t>
            </a:r>
            <a:r>
              <a:rPr lang="en-US" dirty="0" err="1"/>
              <a:t>helyzetének</a:t>
            </a:r>
            <a:r>
              <a:rPr lang="en-US" dirty="0"/>
              <a:t> </a:t>
            </a:r>
            <a:r>
              <a:rPr lang="en-US" dirty="0" err="1"/>
              <a:t>kivizsgálására</a:t>
            </a:r>
            <a:r>
              <a:rPr lang="en-US" dirty="0"/>
              <a:t>. 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A476F5DB-5FFC-4DC2-9EB7-57DFCD3880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6935" y="95007"/>
            <a:ext cx="2564087" cy="3517494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0C6B2905-9C91-4F0A-95E6-94885F8A66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2272" y="3114038"/>
            <a:ext cx="2382399" cy="3621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023851"/>
      </p:ext>
    </p:extLst>
  </p:cSld>
  <p:clrMapOvr>
    <a:masterClrMapping/>
  </p:clrMapOvr>
</p:sld>
</file>

<file path=ppt/theme/theme1.xml><?xml version="1.0" encoding="utf-8"?>
<a:theme xmlns:a="http://schemas.openxmlformats.org/drawingml/2006/main" name="Galéria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Galéria</Template>
  <TotalTime>806</TotalTime>
  <Words>1638</Words>
  <Application>Microsoft Office PowerPoint</Application>
  <PresentationFormat>Szélesvásznú</PresentationFormat>
  <Paragraphs>67</Paragraphs>
  <Slides>19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19</vt:i4>
      </vt:variant>
    </vt:vector>
  </HeadingPairs>
  <TitlesOfParts>
    <vt:vector size="24" baseType="lpstr">
      <vt:lpstr>Arial</vt:lpstr>
      <vt:lpstr>Gill Sans MT</vt:lpstr>
      <vt:lpstr>Times New Roman</vt:lpstr>
      <vt:lpstr>Wingdings 3</vt:lpstr>
      <vt:lpstr>Galéria</vt:lpstr>
      <vt:lpstr>Erdély a második világháború után 1945 – 1989 </vt:lpstr>
      <vt:lpstr>Románia a II. világháború után.  Átmenet a kommunizmusba, a hatalom megszerzése (1944-1947)</vt:lpstr>
      <vt:lpstr>1945-1947.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1956 Erdélyben</vt:lpstr>
      <vt:lpstr>PowerPoint-bemutató</vt:lpstr>
      <vt:lpstr>1956 körül</vt:lpstr>
      <vt:lpstr>1956 után</vt:lpstr>
      <vt:lpstr>PowerPoint-bemutató</vt:lpstr>
      <vt:lpstr>PowerPoint-bemutató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Kalman Attila</dc:creator>
  <cp:lastModifiedBy>Kalman Attila</cp:lastModifiedBy>
  <cp:revision>18</cp:revision>
  <dcterms:created xsi:type="dcterms:W3CDTF">2024-05-05T15:23:42Z</dcterms:created>
  <dcterms:modified xsi:type="dcterms:W3CDTF">2025-05-05T16:38:12Z</dcterms:modified>
</cp:coreProperties>
</file>