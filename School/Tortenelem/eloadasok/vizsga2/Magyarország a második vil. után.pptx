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73" r:id="rId4"/>
    <p:sldId id="260" r:id="rId5"/>
    <p:sldId id="258" r:id="rId6"/>
    <p:sldId id="259" r:id="rId7"/>
    <p:sldId id="261" r:id="rId8"/>
    <p:sldId id="272" r:id="rId9"/>
    <p:sldId id="271" r:id="rId10"/>
    <p:sldId id="262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4" autoAdjust="0"/>
    <p:restoredTop sz="94660"/>
  </p:normalViewPr>
  <p:slideViewPr>
    <p:cSldViewPr snapToGrid="0">
      <p:cViewPr varScale="1">
        <p:scale>
          <a:sx n="86" d="100"/>
          <a:sy n="86" d="100"/>
        </p:scale>
        <p:origin x="47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93105" y="802298"/>
            <a:ext cx="8561747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93106" y="3531204"/>
            <a:ext cx="8561746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3BF71-38B7-8642-BFCE-EDAE9BD0CBAF}" type="datetimeFigureOut">
              <a:rPr lang="en-US" dirty="0"/>
              <a:t>4/28/2025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93105" y="329307"/>
            <a:ext cx="4897310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2334637" y="798973"/>
            <a:ext cx="0" cy="2544756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81CDE-9BE7-C544-8ACB-7077DFC4270F}" type="datetimeFigureOut">
              <a:rPr lang="en-US" dirty="0"/>
              <a:t>4/28/2025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813" y="1756130"/>
            <a:ext cx="8562580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34695" y="3806195"/>
            <a:ext cx="8549990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BA285-9698-1B45-8319-D90A8C63F150}" type="datetimeFigureOut">
              <a:rPr lang="en-US" dirty="0"/>
              <a:t>4/28/2025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1371687" y="798973"/>
            <a:ext cx="0" cy="2845107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695" y="804889"/>
            <a:ext cx="9520157" cy="1059305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34695" y="2010878"/>
            <a:ext cx="4608576" cy="3438144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54793" y="2017343"/>
            <a:ext cx="4604130" cy="3441520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86CD42-43FF-B740-998F-DCC3802C4CE3}" type="datetimeFigureOut">
              <a:rPr lang="en-US" dirty="0"/>
              <a:t>4/28/2025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695" y="804163"/>
            <a:ext cx="9520157" cy="1056319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34695" y="2019549"/>
            <a:ext cx="460857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4695" y="2824269"/>
            <a:ext cx="4608576" cy="2644457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4791" y="2023003"/>
            <a:ext cx="4608576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4792" y="2821491"/>
            <a:ext cx="4608576" cy="2637371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A0FFBD-2EE4-8547-BBAE-A1AC91C8D77E}" type="datetimeFigureOut">
              <a:rPr lang="en-US" dirty="0"/>
              <a:t>4/28/2025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1" name="Straight Connector 10"/>
          <p:cNvCxnSpPr/>
          <p:nvPr/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A2352-D7AC-F242-9256-A4477BCBF354}" type="datetimeFigureOut">
              <a:rPr lang="en-US" dirty="0"/>
              <a:t>4/28/2025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CFC6A-9AE6-404D-9FDD-168B477B9C90}" type="datetimeFigureOut">
              <a:rPr lang="en-US" dirty="0"/>
              <a:t>4/28/2025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642" y="798973"/>
            <a:ext cx="3183128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34695" y="3205491"/>
            <a:ext cx="3184989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FCDFD-B4CF-A241-8D71-E814B10BEAF4}" type="datetimeFigureOut">
              <a:rPr lang="en-US" dirty="0"/>
              <a:t>4/28/2025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371687" y="798973"/>
            <a:ext cx="0" cy="2247117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chemeClr val="bg2">
                    <a:lumMod val="10000"/>
                  </a:schemeClr>
                </a:gs>
                <a:gs pos="100000">
                  <a:schemeClr val="bg2">
                    <a:lumMod val="10000"/>
                  </a:schemeClr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 prstMaterial="matte">
              <a:bevelT w="133350" h="50800" prst="divo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5694" y="1129513"/>
            <a:ext cx="5447840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34695" y="3145992"/>
            <a:ext cx="5440037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534695" y="5469856"/>
            <a:ext cx="5440038" cy="320123"/>
          </a:xfrm>
        </p:spPr>
        <p:txBody>
          <a:bodyPr/>
          <a:lstStyle>
            <a:lvl1pPr algn="l">
              <a:defRPr/>
            </a:lvl1pPr>
          </a:lstStyle>
          <a:p>
            <a:fld id="{26A7B589-FD4B-7E46-869A-CBADC5FC564E}" type="datetimeFigureOut">
              <a:rPr lang="en-US" dirty="0"/>
              <a:t>4/28/2025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534910" y="318640"/>
            <a:ext cx="5453475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71687" y="798973"/>
            <a:ext cx="0" cy="2161124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025CB-9D18-264E-A945-2D020344C9DA}" type="datetimeFigureOut">
              <a:rPr lang="en-US" dirty="0"/>
              <a:t>4/28/2025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883863"/>
            <a:ext cx="1615742" cy="45749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34694" y="883863"/>
            <a:ext cx="7738807" cy="4574999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EFB6C-7E96-8F41-8872-189CA1C59F84}" type="datetimeFigureOut">
              <a:rPr lang="en-US" dirty="0"/>
              <a:t>4/28/2025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H="1">
            <a:off x="9439111" y="719272"/>
            <a:ext cx="1615742" cy="0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2015732"/>
            <a:ext cx="12192000" cy="4118829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/>
          <a:srcRect t="2769" b="-2769"/>
          <a:stretch/>
        </p:blipFill>
        <p:spPr>
          <a:xfrm>
            <a:off x="0" y="6135624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34696" y="804519"/>
            <a:ext cx="9520158" cy="104923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34696" y="2015732"/>
            <a:ext cx="9520158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D8A92E-5FF9-8143-81B3-CCB531513398}" type="datetimeFigureOut">
              <a:rPr lang="en-US" dirty="0"/>
              <a:t>4/28/2025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34695" y="329307"/>
            <a:ext cx="5855719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2" name="Straight Connector 11"/>
          <p:cNvCxnSpPr/>
          <p:nvPr/>
        </p:nvCxnSpPr>
        <p:spPr>
          <a:xfrm>
            <a:off x="0" y="6141705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9t0hfAYPe7w?feature=oembed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ZBhh7g7lnIU?feature=oembed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FA4E4AF-3F88-486B-8315-7D99B03CA14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 err="1"/>
              <a:t>Magyarorsz</a:t>
            </a:r>
            <a:r>
              <a:rPr lang="hu-HU" dirty="0"/>
              <a:t>á</a:t>
            </a:r>
            <a:r>
              <a:rPr lang="en-US" dirty="0"/>
              <a:t>g a m</a:t>
            </a:r>
            <a:r>
              <a:rPr lang="hu-HU" dirty="0"/>
              <a:t>á</a:t>
            </a:r>
            <a:r>
              <a:rPr lang="en-US" dirty="0" err="1"/>
              <a:t>sodik</a:t>
            </a:r>
            <a:r>
              <a:rPr lang="en-US" dirty="0"/>
              <a:t> </a:t>
            </a:r>
            <a:r>
              <a:rPr lang="en-US" dirty="0" err="1"/>
              <a:t>vil</a:t>
            </a:r>
            <a:r>
              <a:rPr lang="hu-HU" dirty="0"/>
              <a:t>á</a:t>
            </a:r>
            <a:r>
              <a:rPr lang="en-US" dirty="0" err="1"/>
              <a:t>gh</a:t>
            </a:r>
            <a:r>
              <a:rPr lang="hu-HU" dirty="0"/>
              <a:t>á</a:t>
            </a:r>
            <a:r>
              <a:rPr lang="en-US" dirty="0" err="1"/>
              <a:t>bor</a:t>
            </a:r>
            <a:r>
              <a:rPr lang="hu-HU" dirty="0"/>
              <a:t>ú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hu-HU" dirty="0" err="1"/>
              <a:t>án</a:t>
            </a:r>
            <a:endParaRPr lang="en-US" dirty="0"/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9D41DE05-7E53-46D1-97EB-544330E4D37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6377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A587966-CF63-4CDD-8AEE-6C4916517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1945</a:t>
            </a:r>
            <a:endParaRPr lang="en-US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31EED31-79B1-431C-9A92-5D444F3790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654" y="2015732"/>
            <a:ext cx="6977849" cy="3450613"/>
          </a:xfrm>
        </p:spPr>
        <p:txBody>
          <a:bodyPr/>
          <a:lstStyle/>
          <a:p>
            <a:pPr algn="just"/>
            <a:r>
              <a:rPr lang="hu-HU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A szovjetek megkezdik a </a:t>
            </a:r>
            <a:r>
              <a:rPr lang="hu-HU" dirty="0">
                <a:solidFill>
                  <a:srgbClr val="202122"/>
                </a:solidFill>
                <a:latin typeface="Arial" panose="020B0604020202020204" pitchFamily="34" charset="0"/>
              </a:rPr>
              <a:t>g</a:t>
            </a:r>
            <a:r>
              <a:rPr lang="hu-HU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azdaság átalakítását</a:t>
            </a:r>
          </a:p>
          <a:p>
            <a:pPr algn="just"/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1945. </a:t>
            </a:r>
            <a:r>
              <a:rPr lang="en-US" dirty="0" err="1">
                <a:latin typeface="Arial" panose="020B0604020202020204" pitchFamily="34" charset="0"/>
              </a:rPr>
              <a:t>november</a:t>
            </a:r>
            <a:r>
              <a:rPr lang="en-US" dirty="0">
                <a:latin typeface="Arial" panose="020B0604020202020204" pitchFamily="34" charset="0"/>
              </a:rPr>
              <a:t> 4-én</a:t>
            </a:r>
            <a:r>
              <a:rPr lang="en-US" b="0" i="0" dirty="0">
                <a:effectLst/>
                <a:latin typeface="Arial" panose="020B0604020202020204" pitchFamily="34" charset="0"/>
              </a:rPr>
              <a:t> 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tartották</a:t>
            </a:r>
            <a:r>
              <a:rPr lang="en-US" b="0" i="0" dirty="0">
                <a:effectLst/>
                <a:latin typeface="Arial" panose="020B0604020202020204" pitchFamily="34" charset="0"/>
              </a:rPr>
              <a:t> a </a:t>
            </a:r>
            <a:r>
              <a:rPr lang="en-US" dirty="0" err="1">
                <a:latin typeface="Arial" panose="020B0604020202020204" pitchFamily="34" charset="0"/>
              </a:rPr>
              <a:t>második</a:t>
            </a:r>
            <a:r>
              <a:rPr lang="en-US" dirty="0">
                <a:latin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</a:rPr>
              <a:t>világháború</a:t>
            </a:r>
            <a:r>
              <a:rPr lang="en-US" b="0" i="0" dirty="0">
                <a:effectLst/>
                <a:latin typeface="Arial" panose="020B0604020202020204" pitchFamily="34" charset="0"/>
              </a:rPr>
              <a:t> 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utáni</a:t>
            </a:r>
            <a:r>
              <a:rPr lang="en-US" b="0" i="0" dirty="0"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Magyarországon</a:t>
            </a:r>
            <a:r>
              <a:rPr lang="en-US" b="0" i="0" dirty="0"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az</a:t>
            </a:r>
            <a:r>
              <a:rPr lang="en-US" b="0" i="0" dirty="0">
                <a:effectLst/>
                <a:latin typeface="Arial" panose="020B0604020202020204" pitchFamily="34" charset="0"/>
              </a:rPr>
              <a:t> </a:t>
            </a:r>
            <a:r>
              <a:rPr lang="en-US" dirty="0" err="1">
                <a:latin typeface="Arial" panose="020B0604020202020204" pitchFamily="34" charset="0"/>
              </a:rPr>
              <a:t>első</a:t>
            </a:r>
            <a:r>
              <a:rPr lang="en-US" dirty="0">
                <a:latin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</a:rPr>
              <a:t>demokratikus</a:t>
            </a:r>
            <a:r>
              <a:rPr lang="en-US" dirty="0">
                <a:latin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</a:rPr>
              <a:t>választást</a:t>
            </a:r>
            <a:r>
              <a:rPr lang="en-US" b="0" i="0" dirty="0">
                <a:effectLst/>
                <a:latin typeface="Arial" panose="020B0604020202020204" pitchFamily="34" charset="0"/>
              </a:rPr>
              <a:t>,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melyet</a:t>
            </a:r>
            <a:r>
              <a:rPr lang="en-US" b="0" i="0" dirty="0">
                <a:effectLst/>
                <a:latin typeface="Arial" panose="020B0604020202020204" pitchFamily="34" charset="0"/>
              </a:rPr>
              <a:t> a </a:t>
            </a:r>
            <a:r>
              <a:rPr lang="en-US" dirty="0" err="1">
                <a:latin typeface="Arial" panose="020B0604020202020204" pitchFamily="34" charset="0"/>
              </a:rPr>
              <a:t>Független</a:t>
            </a:r>
            <a:r>
              <a:rPr lang="en-US" dirty="0">
                <a:latin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</a:rPr>
              <a:t>Kisgazdapárt</a:t>
            </a:r>
            <a:r>
              <a:rPr lang="hu-HU" dirty="0">
                <a:latin typeface="Arial" panose="020B0604020202020204" pitchFamily="34" charset="0"/>
              </a:rPr>
              <a:t> (FKGP)</a:t>
            </a:r>
            <a:r>
              <a:rPr lang="en-US" b="0" i="0" dirty="0">
                <a:effectLst/>
                <a:latin typeface="Arial" panose="020B0604020202020204" pitchFamily="34" charset="0"/>
              </a:rPr>
              <a:t> 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nyert</a:t>
            </a:r>
            <a:r>
              <a:rPr lang="en-US" b="0" i="0" dirty="0">
                <a:effectLst/>
                <a:latin typeface="Arial" panose="020B0604020202020204" pitchFamily="34" charset="0"/>
              </a:rPr>
              <a:t> 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meg </a:t>
            </a:r>
            <a:r>
              <a:rPr lang="en-US" b="0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fölényesen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(57%) a </a:t>
            </a:r>
            <a:r>
              <a:rPr lang="en-US" b="0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három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baloldali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párt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előtt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(</a:t>
            </a:r>
            <a:r>
              <a:rPr lang="en-US" b="0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szociáldemokraták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, </a:t>
            </a:r>
            <a:r>
              <a:rPr lang="en-US" b="0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kommunisták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, </a:t>
            </a:r>
            <a:r>
              <a:rPr lang="en-US" b="0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parasztpárt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). </a:t>
            </a:r>
            <a:endParaRPr lang="hu-HU" b="0" i="0" dirty="0">
              <a:solidFill>
                <a:srgbClr val="202122"/>
              </a:solidFill>
              <a:effectLst/>
              <a:latin typeface="Arial" panose="020B0604020202020204" pitchFamily="34" charset="0"/>
            </a:endParaRPr>
          </a:p>
          <a:p>
            <a:pPr algn="just"/>
            <a:r>
              <a:rPr lang="hu-HU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Szovjet nyomásra koalíciós kormány jön létre</a:t>
            </a:r>
            <a:r>
              <a:rPr lang="hu-HU" dirty="0">
                <a:solidFill>
                  <a:srgbClr val="202122"/>
                </a:solidFill>
                <a:latin typeface="Arial" panose="020B0604020202020204" pitchFamily="34" charset="0"/>
              </a:rPr>
              <a:t> </a:t>
            </a:r>
            <a:r>
              <a:rPr lang="hu-HU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(belügyi tárca a kommunistáké) </a:t>
            </a: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5AAF0F55-57DD-4376-B0A2-D44670787C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466" y="360676"/>
            <a:ext cx="4023486" cy="5632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3172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FB22E45-F224-418A-84EA-1DFDD97B0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Új államforma</a:t>
            </a:r>
            <a:endParaRPr lang="en-US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95ACDE2-9F5B-4CD5-BF73-D88D7D2E19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4696" y="2015732"/>
            <a:ext cx="7058888" cy="3450613"/>
          </a:xfrm>
        </p:spPr>
        <p:txBody>
          <a:bodyPr/>
          <a:lstStyle/>
          <a:p>
            <a:r>
              <a:rPr lang="hu-HU" dirty="0"/>
              <a:t>1946. febr. 1. a második magyar köztársaság kikiáltása: köztársasági elnök: Tildy Zoltán</a:t>
            </a:r>
          </a:p>
          <a:p>
            <a:r>
              <a:rPr lang="hu-HU" dirty="0"/>
              <a:t>Miniszterelnök: Nagy Ferenc</a:t>
            </a:r>
            <a:endParaRPr lang="en-US" dirty="0"/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CCC3DAAF-339B-4E29-B25C-8DD13BFF13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87245" y="310717"/>
            <a:ext cx="3048524" cy="3662039"/>
          </a:xfrm>
          <a:prstGeom prst="rect">
            <a:avLst/>
          </a:prstGeom>
        </p:spPr>
      </p:pic>
      <p:sp>
        <p:nvSpPr>
          <p:cNvPr id="5" name="Szövegdoboz 4">
            <a:extLst>
              <a:ext uri="{FF2B5EF4-FFF2-40B4-BE49-F238E27FC236}">
                <a16:creationId xmlns:a16="http://schemas.microsoft.com/office/drawing/2014/main" id="{8D3C830E-38AC-43D0-BA60-1F0D3B28270F}"/>
              </a:ext>
            </a:extLst>
          </p:cNvPr>
          <p:cNvSpPr txBox="1"/>
          <p:nvPr/>
        </p:nvSpPr>
        <p:spPr>
          <a:xfrm>
            <a:off x="6649375" y="639192"/>
            <a:ext cx="20507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Tildy Zoltán</a:t>
            </a:r>
            <a:endParaRPr lang="en-US" dirty="0"/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1600A3E2-5C3F-4143-A7BA-58E7C8C714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5076" y="2953748"/>
            <a:ext cx="2543822" cy="3052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68987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D904D59-69BE-4187-845A-7411064B7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Kommunista hatalomátvétel lépései</a:t>
            </a:r>
            <a:endParaRPr lang="en-US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A9DCEB0-098B-4809-92C6-0D10A49539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8676" y="2015732"/>
            <a:ext cx="8469297" cy="4037749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dirty="0" err="1">
                <a:latin typeface="Arial" panose="020B0604020202020204" pitchFamily="34" charset="0"/>
              </a:rPr>
              <a:t>Kovács</a:t>
            </a:r>
            <a:r>
              <a:rPr lang="en-US" dirty="0">
                <a:latin typeface="Arial" panose="020B0604020202020204" pitchFamily="34" charset="0"/>
              </a:rPr>
              <a:t> Béla</a:t>
            </a:r>
            <a:r>
              <a:rPr lang="en-US" b="0" i="0" dirty="0">
                <a:effectLst/>
                <a:latin typeface="Arial" panose="020B0604020202020204" pitchFamily="34" charset="0"/>
              </a:rPr>
              <a:t>,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az</a:t>
            </a:r>
            <a:r>
              <a:rPr lang="en-US" b="0" i="0" dirty="0">
                <a:effectLst/>
                <a:latin typeface="Arial" panose="020B0604020202020204" pitchFamily="34" charset="0"/>
              </a:rPr>
              <a:t> FKGP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főtitkárának</a:t>
            </a:r>
            <a:r>
              <a:rPr lang="en-US" b="0" i="0" dirty="0">
                <a:effectLst/>
                <a:latin typeface="Arial" panose="020B0604020202020204" pitchFamily="34" charset="0"/>
              </a:rPr>
              <a:t> </a:t>
            </a:r>
            <a:r>
              <a:rPr lang="en-US" dirty="0">
                <a:latin typeface="Arial" panose="020B0604020202020204" pitchFamily="34" charset="0"/>
              </a:rPr>
              <a:t>1947</a:t>
            </a:r>
            <a:r>
              <a:rPr lang="en-US" b="0" i="0" dirty="0">
                <a:effectLst/>
                <a:latin typeface="Arial" panose="020B0604020202020204" pitchFamily="34" charset="0"/>
              </a:rPr>
              <a:t>. </a:t>
            </a:r>
            <a:r>
              <a:rPr lang="en-US" dirty="0" err="1">
                <a:latin typeface="Arial" panose="020B0604020202020204" pitchFamily="34" charset="0"/>
              </a:rPr>
              <a:t>február</a:t>
            </a:r>
            <a:r>
              <a:rPr lang="en-US" dirty="0">
                <a:latin typeface="Arial" panose="020B0604020202020204" pitchFamily="34" charset="0"/>
              </a:rPr>
              <a:t> 25-i</a:t>
            </a:r>
            <a:r>
              <a:rPr lang="en-US" b="0" i="0" dirty="0">
                <a:effectLst/>
                <a:latin typeface="Arial" panose="020B0604020202020204" pitchFamily="34" charset="0"/>
              </a:rPr>
              <a:t> 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jogellenes</a:t>
            </a:r>
            <a:r>
              <a:rPr lang="en-US" b="0" i="0" dirty="0"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letartóztatásával</a:t>
            </a:r>
            <a:r>
              <a:rPr lang="en-US" b="0" i="0" dirty="0">
                <a:effectLst/>
                <a:latin typeface="Arial" panose="020B0604020202020204" pitchFamily="34" charset="0"/>
              </a:rPr>
              <a:t> a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kommunisták</a:t>
            </a:r>
            <a:r>
              <a:rPr lang="en-US" b="0" i="0" dirty="0"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megkezdték</a:t>
            </a:r>
            <a:r>
              <a:rPr lang="en-US" b="0" i="0" dirty="0"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politikai</a:t>
            </a:r>
            <a:r>
              <a:rPr lang="en-US" b="0" i="0" dirty="0"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ellenfeleik</a:t>
            </a:r>
            <a:r>
              <a:rPr lang="en-US" b="0" i="0" dirty="0"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kiszorítását</a:t>
            </a:r>
            <a:r>
              <a:rPr lang="en-US" b="0" i="0" dirty="0">
                <a:effectLst/>
                <a:latin typeface="Arial" panose="020B0604020202020204" pitchFamily="34" charset="0"/>
              </a:rPr>
              <a:t> a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hatalomból</a:t>
            </a:r>
            <a:r>
              <a:rPr lang="en-US" b="0" i="0" dirty="0">
                <a:effectLst/>
                <a:latin typeface="Arial" panose="020B0604020202020204" pitchFamily="34" charset="0"/>
              </a:rPr>
              <a:t>. </a:t>
            </a:r>
            <a:r>
              <a:rPr lang="hu-HU" b="0" i="0" dirty="0">
                <a:effectLst/>
                <a:latin typeface="Arial" panose="020B0604020202020204" pitchFamily="34" charset="0"/>
              </a:rPr>
              <a:t>Nagy Ferenc emigrációba kényszerül, helyébe Dinnyés Lajos lesz a </a:t>
            </a:r>
            <a:r>
              <a:rPr lang="hu-HU" b="0" i="0" dirty="0" err="1">
                <a:effectLst/>
                <a:latin typeface="Arial" panose="020B0604020202020204" pitchFamily="34" charset="0"/>
              </a:rPr>
              <a:t>miniszterlenök</a:t>
            </a:r>
            <a:endParaRPr lang="hu-HU" b="0" i="0" dirty="0">
              <a:effectLst/>
              <a:latin typeface="Arial" panose="020B0604020202020204" pitchFamily="34" charset="0"/>
            </a:endParaRPr>
          </a:p>
          <a:p>
            <a:pPr algn="just"/>
            <a:r>
              <a:rPr lang="en-US" b="0" i="0" dirty="0" err="1">
                <a:effectLst/>
                <a:latin typeface="Arial" panose="020B0604020202020204" pitchFamily="34" charset="0"/>
              </a:rPr>
              <a:t>Módszereik</a:t>
            </a:r>
            <a:r>
              <a:rPr lang="en-US" b="0" i="0" dirty="0"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közé</a:t>
            </a:r>
            <a:r>
              <a:rPr lang="en-US" b="0" i="0" dirty="0"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tartozott</a:t>
            </a:r>
            <a:r>
              <a:rPr lang="en-US" dirty="0">
                <a:latin typeface="Arial" panose="020B0604020202020204" pitchFamily="34" charset="0"/>
              </a:rPr>
              <a:t>:</a:t>
            </a:r>
            <a:r>
              <a:rPr lang="en-US" b="0" i="0" dirty="0">
                <a:effectLst/>
                <a:latin typeface="Arial" panose="020B0604020202020204" pitchFamily="34" charset="0"/>
              </a:rPr>
              <a:t> a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megfélemlítés</a:t>
            </a:r>
            <a:r>
              <a:rPr lang="en-US" b="0" i="0" dirty="0">
                <a:effectLst/>
                <a:latin typeface="Arial" panose="020B0604020202020204" pitchFamily="34" charset="0"/>
              </a:rPr>
              <a:t>, a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lejáratás</a:t>
            </a:r>
            <a:r>
              <a:rPr lang="en-US" b="0" i="0" dirty="0">
                <a:effectLst/>
                <a:latin typeface="Arial" panose="020B0604020202020204" pitchFamily="34" charset="0"/>
              </a:rPr>
              <a:t>,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az</a:t>
            </a:r>
            <a:r>
              <a:rPr lang="en-US" b="0" i="0" dirty="0"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emberrablás</a:t>
            </a:r>
            <a:r>
              <a:rPr lang="en-US" b="0" i="0" dirty="0">
                <a:effectLst/>
                <a:latin typeface="Arial" panose="020B0604020202020204" pitchFamily="34" charset="0"/>
              </a:rPr>
              <a:t>, a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fizikai</a:t>
            </a:r>
            <a:r>
              <a:rPr lang="en-US" b="0" i="0" dirty="0"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megsemmisítés</a:t>
            </a:r>
            <a:r>
              <a:rPr lang="en-US" b="0" i="0" dirty="0">
                <a:effectLst/>
                <a:latin typeface="Arial" panose="020B0604020202020204" pitchFamily="34" charset="0"/>
              </a:rPr>
              <a:t>. </a:t>
            </a:r>
            <a:endParaRPr lang="hu-HU" b="0" i="0" dirty="0">
              <a:effectLst/>
              <a:latin typeface="Arial" panose="020B0604020202020204" pitchFamily="34" charset="0"/>
            </a:endParaRPr>
          </a:p>
          <a:p>
            <a:pPr algn="just"/>
            <a:r>
              <a:rPr lang="hu-HU" dirty="0">
                <a:latin typeface="Arial" panose="020B0604020202020204" pitchFamily="34" charset="0"/>
              </a:rPr>
              <a:t>Szalámitaktika (Ahogy a szalámit vágjuk, úgy történik a pártok – Kisgazdapárt bomlasztása, </a:t>
            </a:r>
            <a:r>
              <a:rPr lang="hu-HU" dirty="0" err="1">
                <a:latin typeface="Arial" panose="020B0604020202020204" pitchFamily="34" charset="0"/>
              </a:rPr>
              <a:t>személyenkénti</a:t>
            </a:r>
            <a:r>
              <a:rPr lang="hu-HU" dirty="0">
                <a:latin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</a:rPr>
              <a:t>lej</a:t>
            </a:r>
            <a:r>
              <a:rPr lang="hu-HU" dirty="0" err="1">
                <a:latin typeface="Arial" panose="020B0604020202020204" pitchFamily="34" charset="0"/>
              </a:rPr>
              <a:t>áratása</a:t>
            </a:r>
            <a:r>
              <a:rPr lang="hu-HU" dirty="0">
                <a:latin typeface="Arial" panose="020B0604020202020204" pitchFamily="34" charset="0"/>
              </a:rPr>
              <a:t>, megsemmisítése)</a:t>
            </a:r>
            <a:endParaRPr lang="hu-HU" b="0" i="0" dirty="0">
              <a:effectLst/>
              <a:latin typeface="Arial" panose="020B0604020202020204" pitchFamily="34" charset="0"/>
            </a:endParaRPr>
          </a:p>
          <a:p>
            <a:pPr algn="just"/>
            <a:r>
              <a:rPr lang="hu-HU" dirty="0">
                <a:latin typeface="Arial" panose="020B0604020202020204" pitchFamily="34" charset="0"/>
              </a:rPr>
              <a:t>1947: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úgynevezett</a:t>
            </a:r>
            <a:r>
              <a:rPr lang="en-US" b="0" i="0" dirty="0">
                <a:effectLst/>
                <a:latin typeface="Arial" panose="020B0604020202020204" pitchFamily="34" charset="0"/>
              </a:rPr>
              <a:t> „</a:t>
            </a:r>
            <a:r>
              <a:rPr lang="en-US" dirty="0" err="1">
                <a:latin typeface="Arial" panose="020B0604020202020204" pitchFamily="34" charset="0"/>
              </a:rPr>
              <a:t>kékcédulás</a:t>
            </a:r>
            <a:r>
              <a:rPr lang="hu-HU" dirty="0">
                <a:latin typeface="Arial" panose="020B0604020202020204" pitchFamily="34" charset="0"/>
              </a:rPr>
              <a:t> (manipulált)</a:t>
            </a:r>
            <a:r>
              <a:rPr lang="en-US" dirty="0">
                <a:latin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</a:rPr>
              <a:t>választás</a:t>
            </a:r>
            <a:r>
              <a:rPr lang="en-US" b="0" i="0" dirty="0">
                <a:effectLst/>
                <a:latin typeface="Arial" panose="020B0604020202020204" pitchFamily="34" charset="0"/>
              </a:rPr>
              <a:t>”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még</a:t>
            </a:r>
            <a:r>
              <a:rPr lang="en-US" b="0" i="0" dirty="0"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nagyobb</a:t>
            </a:r>
            <a:r>
              <a:rPr lang="en-US" b="0" i="0" dirty="0"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befolyáshoz</a:t>
            </a:r>
            <a:r>
              <a:rPr lang="en-US" b="0" i="0" dirty="0"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juttatták</a:t>
            </a:r>
            <a:r>
              <a:rPr lang="en-US" b="0" i="0" dirty="0">
                <a:effectLst/>
                <a:latin typeface="Arial" panose="020B0604020202020204" pitchFamily="34" charset="0"/>
              </a:rPr>
              <a:t> a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baloldali</a:t>
            </a:r>
            <a:r>
              <a:rPr lang="en-US" b="0" i="0" dirty="0"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pártokat</a:t>
            </a:r>
            <a:r>
              <a:rPr lang="en-US" b="0" i="0" dirty="0">
                <a:effectLst/>
                <a:latin typeface="Arial" panose="020B0604020202020204" pitchFamily="34" charset="0"/>
              </a:rPr>
              <a:t>. A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parlamenti</a:t>
            </a:r>
            <a:r>
              <a:rPr lang="en-US" b="0" i="0" dirty="0"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ellenzéket</a:t>
            </a:r>
            <a:r>
              <a:rPr lang="en-US" b="0" i="0" dirty="0">
                <a:effectLst/>
                <a:latin typeface="Arial" panose="020B0604020202020204" pitchFamily="34" charset="0"/>
              </a:rPr>
              <a:t>, a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polgári</a:t>
            </a:r>
            <a:r>
              <a:rPr lang="en-US" b="0" i="0" dirty="0"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pártokat</a:t>
            </a:r>
            <a:r>
              <a:rPr lang="en-US" b="0" i="0" dirty="0"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felszámolták</a:t>
            </a:r>
            <a:r>
              <a:rPr lang="en-US" b="0" i="0" dirty="0">
                <a:effectLst/>
                <a:latin typeface="Arial" panose="020B0604020202020204" pitchFamily="34" charset="0"/>
              </a:rPr>
              <a:t>. </a:t>
            </a:r>
            <a:endParaRPr lang="en-US" dirty="0"/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FD10095E-2DB4-4039-82C4-387EBBEA0B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1027" y="275207"/>
            <a:ext cx="3112297" cy="3715305"/>
          </a:xfrm>
          <a:prstGeom prst="rect">
            <a:avLst/>
          </a:prstGeom>
        </p:spPr>
      </p:pic>
      <p:sp>
        <p:nvSpPr>
          <p:cNvPr id="5" name="Szövegdoboz 4">
            <a:extLst>
              <a:ext uri="{FF2B5EF4-FFF2-40B4-BE49-F238E27FC236}">
                <a16:creationId xmlns:a16="http://schemas.microsoft.com/office/drawing/2014/main" id="{C2C73C3E-7A28-4FD3-8753-A0B6B1DE7EC0}"/>
              </a:ext>
            </a:extLst>
          </p:cNvPr>
          <p:cNvSpPr txBox="1"/>
          <p:nvPr/>
        </p:nvSpPr>
        <p:spPr>
          <a:xfrm>
            <a:off x="9197266" y="4314548"/>
            <a:ext cx="2317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Dinnyés Lajos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78578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rtalom helye 2">
            <a:extLst>
              <a:ext uri="{FF2B5EF4-FFF2-40B4-BE49-F238E27FC236}">
                <a16:creationId xmlns:a16="http://schemas.microsoft.com/office/drawing/2014/main" id="{59E55A7F-C8D9-4699-A358-D8661E31D94C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0" y="568172"/>
            <a:ext cx="6640497" cy="4897592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hu-HU" dirty="0">
                <a:latin typeface="Arial" panose="020B0604020202020204" pitchFamily="34" charset="0"/>
              </a:rPr>
              <a:t>1948</a:t>
            </a:r>
            <a:r>
              <a:rPr lang="hu-HU" b="0" i="0" dirty="0">
                <a:effectLst/>
                <a:latin typeface="Arial" panose="020B0604020202020204" pitchFamily="34" charset="0"/>
              </a:rPr>
              <a:t>. </a:t>
            </a:r>
            <a:r>
              <a:rPr lang="hu-HU" dirty="0">
                <a:latin typeface="Arial" panose="020B0604020202020204" pitchFamily="34" charset="0"/>
              </a:rPr>
              <a:t>június 12</a:t>
            </a:r>
            <a:r>
              <a:rPr lang="hu-HU" b="0" i="0" dirty="0">
                <a:effectLst/>
                <a:latin typeface="Arial" panose="020B0604020202020204" pitchFamily="34" charset="0"/>
              </a:rPr>
              <a:t>-én a </a:t>
            </a:r>
            <a:r>
              <a:rPr lang="hu-HU" dirty="0">
                <a:latin typeface="Arial" panose="020B0604020202020204" pitchFamily="34" charset="0"/>
              </a:rPr>
              <a:t>Magyar Kommunista Párt</a:t>
            </a:r>
            <a:r>
              <a:rPr lang="hu-HU" b="0" i="0" dirty="0">
                <a:effectLst/>
                <a:latin typeface="Arial" panose="020B0604020202020204" pitchFamily="34" charset="0"/>
              </a:rPr>
              <a:t> és a </a:t>
            </a:r>
            <a:r>
              <a:rPr lang="hu-HU" dirty="0">
                <a:latin typeface="Arial" panose="020B0604020202020204" pitchFamily="34" charset="0"/>
              </a:rPr>
              <a:t>Szociáldemokrata Párt</a:t>
            </a:r>
            <a:r>
              <a:rPr lang="hu-HU" b="0" i="0" dirty="0">
                <a:effectLst/>
                <a:latin typeface="Arial" panose="020B0604020202020204" pitchFamily="34" charset="0"/>
              </a:rPr>
              <a:t> egyesültek, </a:t>
            </a:r>
            <a:r>
              <a:rPr lang="hu-HU" b="1" dirty="0">
                <a:latin typeface="Arial" panose="020B0604020202020204" pitchFamily="34" charset="0"/>
              </a:rPr>
              <a:t>Magyar Dolgozók Pártja</a:t>
            </a:r>
            <a:r>
              <a:rPr lang="hu-HU" b="1" i="0" dirty="0">
                <a:effectLst/>
                <a:latin typeface="Arial" panose="020B0604020202020204" pitchFamily="34" charset="0"/>
              </a:rPr>
              <a:t> (MDP) néven. </a:t>
            </a:r>
          </a:p>
          <a:p>
            <a:pPr algn="just"/>
            <a:r>
              <a:rPr lang="hu-HU" b="0" i="0" dirty="0">
                <a:effectLst/>
                <a:latin typeface="Arial" panose="020B0604020202020204" pitchFamily="34" charset="0"/>
              </a:rPr>
              <a:t>Az így biztosított baloldali többséggel a kommunisták keresztülvihették több nagy horderejű törvényjavaslatukat, melyek közül a legjelentősebbek az </a:t>
            </a:r>
            <a:r>
              <a:rPr lang="hu-HU" b="1" i="0" dirty="0">
                <a:effectLst/>
                <a:latin typeface="Arial" panose="020B0604020202020204" pitchFamily="34" charset="0"/>
              </a:rPr>
              <a:t>államosítási törvények </a:t>
            </a:r>
            <a:r>
              <a:rPr lang="hu-HU" b="0" i="0" dirty="0">
                <a:effectLst/>
                <a:latin typeface="Arial" panose="020B0604020202020204" pitchFamily="34" charset="0"/>
              </a:rPr>
              <a:t>voltak. </a:t>
            </a:r>
          </a:p>
          <a:p>
            <a:pPr algn="just"/>
            <a:r>
              <a:rPr lang="hu-HU" b="0" i="0" dirty="0">
                <a:effectLst/>
                <a:latin typeface="Arial" panose="020B0604020202020204" pitchFamily="34" charset="0"/>
              </a:rPr>
              <a:t>1949-ben létrejött a </a:t>
            </a:r>
            <a:r>
              <a:rPr lang="hu-HU" b="1" dirty="0">
                <a:latin typeface="Arial" panose="020B0604020202020204" pitchFamily="34" charset="0"/>
              </a:rPr>
              <a:t>Magyar Függetlenségi Népfront</a:t>
            </a:r>
            <a:r>
              <a:rPr lang="hu-HU" b="1" i="0" dirty="0">
                <a:effectLst/>
                <a:latin typeface="Arial" panose="020B0604020202020204" pitchFamily="34" charset="0"/>
              </a:rPr>
              <a:t> </a:t>
            </a:r>
            <a:r>
              <a:rPr lang="hu-HU" b="0" i="0" dirty="0">
                <a:effectLst/>
                <a:latin typeface="Arial" panose="020B0604020202020204" pitchFamily="34" charset="0"/>
              </a:rPr>
              <a:t>is, mely nem volt más, mint az 1949-es választásokon a pártok indulásának formális eltörlése. Egyetlen szavazólap volt ugyanis, azon felsorolva a jelöltek nevei, s csak annak kellett X-</a:t>
            </a:r>
            <a:r>
              <a:rPr lang="hu-HU" b="0" i="0" dirty="0" err="1">
                <a:effectLst/>
                <a:latin typeface="Arial" panose="020B0604020202020204" pitchFamily="34" charset="0"/>
              </a:rPr>
              <a:t>et</a:t>
            </a:r>
            <a:r>
              <a:rPr lang="hu-HU" b="0" i="0" dirty="0">
                <a:effectLst/>
                <a:latin typeface="Arial" panose="020B0604020202020204" pitchFamily="34" charset="0"/>
              </a:rPr>
              <a:t> tennie a lapra, ha nem értett egyet a jelöltekkel. Elméletileg ezen bármely párt jelöltje szerepelhetett, a végül megválasztott képviselők 71%-a azonban MDP-tag volt. </a:t>
            </a:r>
          </a:p>
          <a:p>
            <a:pPr algn="just"/>
            <a:r>
              <a:rPr lang="hu-HU" b="0" i="0" dirty="0">
                <a:effectLst/>
                <a:latin typeface="Arial" panose="020B0604020202020204" pitchFamily="34" charset="0"/>
              </a:rPr>
              <a:t>1949. augusztus 18: </a:t>
            </a:r>
            <a:r>
              <a:rPr lang="hu-HU" b="1" i="0" dirty="0">
                <a:effectLst/>
                <a:latin typeface="Arial" panose="020B0604020202020204" pitchFamily="34" charset="0"/>
              </a:rPr>
              <a:t>Magyarország új </a:t>
            </a:r>
            <a:r>
              <a:rPr lang="hu-HU" b="1" dirty="0">
                <a:latin typeface="Arial" panose="020B0604020202020204" pitchFamily="34" charset="0"/>
              </a:rPr>
              <a:t>alkotmánya</a:t>
            </a:r>
            <a:r>
              <a:rPr lang="hu-HU" dirty="0">
                <a:latin typeface="Arial" panose="020B0604020202020204" pitchFamily="34" charset="0"/>
              </a:rPr>
              <a:t>: </a:t>
            </a:r>
            <a:r>
              <a:rPr lang="hu-HU" b="0" i="0" dirty="0">
                <a:effectLst/>
                <a:latin typeface="Arial" panose="020B0604020202020204" pitchFamily="34" charset="0"/>
              </a:rPr>
              <a:t>a Szovjetunió </a:t>
            </a:r>
            <a:r>
              <a:rPr lang="hu-HU" dirty="0">
                <a:latin typeface="Arial" panose="020B0604020202020204" pitchFamily="34" charset="0"/>
              </a:rPr>
              <a:t>1936</a:t>
            </a:r>
            <a:r>
              <a:rPr lang="hu-HU" b="0" i="0" dirty="0">
                <a:effectLst/>
                <a:latin typeface="Arial" panose="020B0604020202020204" pitchFamily="34" charset="0"/>
              </a:rPr>
              <a:t>-os alkotmányának szinte egy az egyben történő átvétele: megszüntetik a köztársasági elnöki funkciót, létrejön az Elnöki Tanács (elnök: </a:t>
            </a:r>
            <a:r>
              <a:rPr lang="hu-HU" dirty="0">
                <a:latin typeface="Arial" panose="020B0604020202020204" pitchFamily="34" charset="0"/>
              </a:rPr>
              <a:t>S</a:t>
            </a:r>
            <a:r>
              <a:rPr lang="hu-HU" b="0" i="0" dirty="0">
                <a:effectLst/>
                <a:latin typeface="Arial" panose="020B0604020202020204" pitchFamily="34" charset="0"/>
              </a:rPr>
              <a:t>zakasits Árpád)</a:t>
            </a:r>
            <a:endParaRPr lang="en-US" dirty="0"/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D1D09F37-85B4-4300-9DC6-B73E9C6314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0068" y="80400"/>
            <a:ext cx="5126323" cy="3830715"/>
          </a:xfrm>
          <a:prstGeom prst="rect">
            <a:avLst/>
          </a:prstGeom>
        </p:spPr>
      </p:pic>
      <p:pic>
        <p:nvPicPr>
          <p:cNvPr id="2" name="Kép 1">
            <a:extLst>
              <a:ext uri="{FF2B5EF4-FFF2-40B4-BE49-F238E27FC236}">
                <a16:creationId xmlns:a16="http://schemas.microsoft.com/office/drawing/2014/main" id="{83AF8191-7367-4B46-8F86-A8734828A7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263" y="3348600"/>
            <a:ext cx="2866458" cy="3429000"/>
          </a:xfrm>
          <a:prstGeom prst="rect">
            <a:avLst/>
          </a:prstGeom>
        </p:spPr>
      </p:pic>
      <p:sp>
        <p:nvSpPr>
          <p:cNvPr id="5" name="Szövegdoboz 4">
            <a:extLst>
              <a:ext uri="{FF2B5EF4-FFF2-40B4-BE49-F238E27FC236}">
                <a16:creationId xmlns:a16="http://schemas.microsoft.com/office/drawing/2014/main" id="{4F670C20-EA66-4EDF-88E6-24B9AB979C91}"/>
              </a:ext>
            </a:extLst>
          </p:cNvPr>
          <p:cNvSpPr txBox="1"/>
          <p:nvPr/>
        </p:nvSpPr>
        <p:spPr>
          <a:xfrm>
            <a:off x="6977849" y="5228948"/>
            <a:ext cx="19086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Szakasits Árpád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21362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2385E06-17CA-4E8B-A7BA-DB636E0D6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Rákosi korszak</a:t>
            </a:r>
            <a:endParaRPr lang="en-US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5F7F377-A7BE-4E7C-9850-594175ED0F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44" y="2015732"/>
            <a:ext cx="8158578" cy="4234148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hu-H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1945-1956 </a:t>
            </a:r>
            <a:r>
              <a:rPr lang="hu-HU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főtitikár</a:t>
            </a:r>
            <a:r>
              <a:rPr lang="hu-H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(MKP, MDP)</a:t>
            </a:r>
          </a:p>
          <a:p>
            <a:pPr algn="just"/>
            <a:r>
              <a:rPr lang="en-US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az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emberi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jogok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súlyos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sérelmet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szenvedtek</a:t>
            </a:r>
            <a:endParaRPr lang="hu-HU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megtorlás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ok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a 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koncepciós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perekben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kivégzettek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száma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száz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és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kétszáz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fő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közé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tehető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40 </a:t>
            </a:r>
            <a:r>
              <a:rPr lang="en-US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ezren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voltak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rendőri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őrizetben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illetve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internálva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közel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13 </a:t>
            </a:r>
            <a:r>
              <a:rPr lang="en-US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ezer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főt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két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és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fél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ezer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családot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kitelepítettek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kitiltottak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Budapestről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 </a:t>
            </a:r>
            <a:endParaRPr lang="hu-HU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Rákosi-rendszerben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hozzávetőleg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300 </a:t>
            </a:r>
            <a:r>
              <a:rPr lang="en-US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ezer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embert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telepítette</a:t>
            </a:r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ki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és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internáltak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korábbi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lakhelyéről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hu-H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korábbi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földbirtokosok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módosabb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gazdák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katonatisztek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állami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alkalmazottak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gyártulajdonosok</a:t>
            </a:r>
            <a:r>
              <a:rPr lang="hu-H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.</a:t>
            </a:r>
            <a:endParaRPr lang="hu-HU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jellemző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 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személyi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kultusz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 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beszolgáltatási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kötelezettség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az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„</a:t>
            </a:r>
            <a:r>
              <a:rPr lang="en-US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éberség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” </a:t>
            </a:r>
            <a:r>
              <a:rPr lang="en-US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jegyében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pedig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rendőrállam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fenntartása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az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ÁVH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hu-H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(Államvédelmi Hatóság – állami rendőrség) </a:t>
            </a:r>
            <a:r>
              <a:rPr lang="en-US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vezetésével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hu-HU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26CE290F-C979-4E41-95AA-5EEE0E6A84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0722" y="111051"/>
            <a:ext cx="3843311" cy="2561207"/>
          </a:xfrm>
          <a:prstGeom prst="rect">
            <a:avLst/>
          </a:prstGeom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60ACEDDC-E0F3-4299-965C-B2EEAED18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2215" y="3119992"/>
            <a:ext cx="2600325" cy="3476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69030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rtalom helye 2">
            <a:extLst>
              <a:ext uri="{FF2B5EF4-FFF2-40B4-BE49-F238E27FC236}">
                <a16:creationId xmlns:a16="http://schemas.microsoft.com/office/drawing/2014/main" id="{D9871996-5613-47DD-822F-F1DD5889C95F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0" y="1091953"/>
            <a:ext cx="11887200" cy="4373810"/>
          </a:xfrm>
        </p:spPr>
        <p:txBody>
          <a:bodyPr>
            <a:normAutofit/>
          </a:bodyPr>
          <a:lstStyle/>
          <a:p>
            <a:pPr algn="just"/>
            <a:r>
              <a:rPr lang="en-US" b="0" i="0" dirty="0">
                <a:effectLst/>
                <a:latin typeface="Arial" panose="020B0604020202020204" pitchFamily="34" charset="0"/>
              </a:rPr>
              <a:t>A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Rákosi-kultusz</a:t>
            </a:r>
            <a:r>
              <a:rPr lang="en-US" b="0" i="0" dirty="0"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fokozatosan</a:t>
            </a:r>
            <a:r>
              <a:rPr lang="en-US" b="0" i="0" dirty="0"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kiépülve</a:t>
            </a:r>
            <a:r>
              <a:rPr lang="en-US" b="0" i="0" dirty="0">
                <a:effectLst/>
                <a:latin typeface="Arial" panose="020B0604020202020204" pitchFamily="34" charset="0"/>
              </a:rPr>
              <a:t> </a:t>
            </a:r>
            <a:r>
              <a:rPr lang="en-US" dirty="0">
                <a:latin typeface="Arial" panose="020B0604020202020204" pitchFamily="34" charset="0"/>
              </a:rPr>
              <a:t>1952</a:t>
            </a:r>
            <a:r>
              <a:rPr lang="en-US" b="0" i="0" dirty="0">
                <a:effectLst/>
                <a:latin typeface="Arial" panose="020B0604020202020204" pitchFamily="34" charset="0"/>
              </a:rPr>
              <a:t>-re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érte</a:t>
            </a:r>
            <a:r>
              <a:rPr lang="en-US" b="0" i="0" dirty="0"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el</a:t>
            </a:r>
            <a:r>
              <a:rPr lang="en-US" b="0" i="0" dirty="0"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tetőpontját</a:t>
            </a:r>
            <a:r>
              <a:rPr lang="en-US" b="0" i="0" dirty="0">
                <a:effectLst/>
                <a:latin typeface="Arial" panose="020B0604020202020204" pitchFamily="34" charset="0"/>
              </a:rPr>
              <a:t>,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ekkor</a:t>
            </a:r>
            <a:r>
              <a:rPr lang="en-US" b="0" i="0" dirty="0"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kezdték</a:t>
            </a:r>
            <a:r>
              <a:rPr lang="en-US" b="0" i="0" dirty="0">
                <a:effectLst/>
                <a:latin typeface="Arial" panose="020B0604020202020204" pitchFamily="34" charset="0"/>
              </a:rPr>
              <a:t> a </a:t>
            </a:r>
            <a:r>
              <a:rPr lang="en-US" b="0" i="1" dirty="0">
                <a:effectLst/>
                <a:latin typeface="Arial" panose="020B0604020202020204" pitchFamily="34" charset="0"/>
              </a:rPr>
              <a:t>„</a:t>
            </a:r>
            <a:r>
              <a:rPr lang="en-US" b="0" i="1" dirty="0" err="1">
                <a:effectLst/>
                <a:latin typeface="Arial" panose="020B0604020202020204" pitchFamily="34" charset="0"/>
              </a:rPr>
              <a:t>népünk</a:t>
            </a:r>
            <a:r>
              <a:rPr lang="en-US" b="0" i="1" dirty="0">
                <a:effectLst/>
                <a:latin typeface="Arial" panose="020B0604020202020204" pitchFamily="34" charset="0"/>
              </a:rPr>
              <a:t> </a:t>
            </a:r>
            <a:r>
              <a:rPr lang="en-US" b="0" i="1" dirty="0" err="1">
                <a:effectLst/>
                <a:latin typeface="Arial" panose="020B0604020202020204" pitchFamily="34" charset="0"/>
              </a:rPr>
              <a:t>bölcs</a:t>
            </a:r>
            <a:r>
              <a:rPr lang="en-US" b="0" i="1" dirty="0">
                <a:effectLst/>
                <a:latin typeface="Arial" panose="020B0604020202020204" pitchFamily="34" charset="0"/>
              </a:rPr>
              <a:t> </a:t>
            </a:r>
            <a:r>
              <a:rPr lang="en-US" b="0" i="1" dirty="0" err="1">
                <a:effectLst/>
                <a:latin typeface="Arial" panose="020B0604020202020204" pitchFamily="34" charset="0"/>
              </a:rPr>
              <a:t>vezére</a:t>
            </a:r>
            <a:r>
              <a:rPr lang="en-US" b="0" i="1" dirty="0">
                <a:effectLst/>
                <a:latin typeface="Arial" panose="020B0604020202020204" pitchFamily="34" charset="0"/>
              </a:rPr>
              <a:t>”</a:t>
            </a:r>
            <a:r>
              <a:rPr lang="en-US" b="0" i="0" dirty="0">
                <a:effectLst/>
                <a:latin typeface="Arial" panose="020B0604020202020204" pitchFamily="34" charset="0"/>
              </a:rPr>
              <a:t>,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valamint</a:t>
            </a:r>
            <a:r>
              <a:rPr lang="en-US" b="0" i="0" dirty="0">
                <a:effectLst/>
                <a:latin typeface="Arial" panose="020B0604020202020204" pitchFamily="34" charset="0"/>
              </a:rPr>
              <a:t> a </a:t>
            </a:r>
            <a:r>
              <a:rPr lang="en-US" b="0" i="1" dirty="0">
                <a:effectLst/>
                <a:latin typeface="Arial" panose="020B0604020202020204" pitchFamily="34" charset="0"/>
              </a:rPr>
              <a:t>„</a:t>
            </a:r>
            <a:r>
              <a:rPr lang="en-US" i="1" dirty="0" err="1">
                <a:latin typeface="Arial" panose="020B0604020202020204" pitchFamily="34" charset="0"/>
              </a:rPr>
              <a:t>Sztálin</a:t>
            </a:r>
            <a:r>
              <a:rPr lang="en-US" b="0" i="1" dirty="0">
                <a:effectLst/>
                <a:latin typeface="Arial" panose="020B0604020202020204" pitchFamily="34" charset="0"/>
              </a:rPr>
              <a:t> </a:t>
            </a:r>
            <a:r>
              <a:rPr lang="en-US" b="0" i="1" dirty="0" err="1">
                <a:effectLst/>
                <a:latin typeface="Arial" panose="020B0604020202020204" pitchFamily="34" charset="0"/>
              </a:rPr>
              <a:t>legjobb</a:t>
            </a:r>
            <a:r>
              <a:rPr lang="en-US" b="0" i="1" dirty="0">
                <a:effectLst/>
                <a:latin typeface="Arial" panose="020B0604020202020204" pitchFamily="34" charset="0"/>
              </a:rPr>
              <a:t> </a:t>
            </a:r>
            <a:r>
              <a:rPr lang="en-US" b="0" i="1" dirty="0" err="1">
                <a:effectLst/>
                <a:latin typeface="Arial" panose="020B0604020202020204" pitchFamily="34" charset="0"/>
              </a:rPr>
              <a:t>magyar</a:t>
            </a:r>
            <a:r>
              <a:rPr lang="en-US" b="0" i="1" dirty="0">
                <a:effectLst/>
                <a:latin typeface="Arial" panose="020B0604020202020204" pitchFamily="34" charset="0"/>
              </a:rPr>
              <a:t> </a:t>
            </a:r>
            <a:r>
              <a:rPr lang="en-US" b="0" i="1" dirty="0" err="1">
                <a:effectLst/>
                <a:latin typeface="Arial" panose="020B0604020202020204" pitchFamily="34" charset="0"/>
              </a:rPr>
              <a:t>tanítványa</a:t>
            </a:r>
            <a:r>
              <a:rPr lang="en-US" b="0" i="1" dirty="0">
                <a:effectLst/>
                <a:latin typeface="Arial" panose="020B0604020202020204" pitchFamily="34" charset="0"/>
              </a:rPr>
              <a:t>”</a:t>
            </a:r>
            <a:r>
              <a:rPr lang="en-US" b="0" i="0" dirty="0">
                <a:effectLst/>
                <a:latin typeface="Arial" panose="020B0604020202020204" pitchFamily="34" charset="0"/>
              </a:rPr>
              <a:t> 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jelzőkkel</a:t>
            </a:r>
            <a:r>
              <a:rPr lang="en-US" b="0" i="0" dirty="0"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illetni</a:t>
            </a:r>
            <a:r>
              <a:rPr lang="en-US" b="0" i="0" dirty="0">
                <a:effectLst/>
                <a:latin typeface="Arial" panose="020B0604020202020204" pitchFamily="34" charset="0"/>
              </a:rPr>
              <a:t>.</a:t>
            </a:r>
          </a:p>
          <a:p>
            <a:pPr algn="just"/>
            <a:r>
              <a:rPr lang="en-US" b="0" i="0" dirty="0">
                <a:effectLst/>
                <a:latin typeface="Arial" panose="020B0604020202020204" pitchFamily="34" charset="0"/>
              </a:rPr>
              <a:t>1952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elején</a:t>
            </a:r>
            <a:r>
              <a:rPr lang="en-US" b="0" i="0" dirty="0">
                <a:effectLst/>
                <a:latin typeface="Arial" panose="020B0604020202020204" pitchFamily="34" charset="0"/>
              </a:rPr>
              <a:t> 60.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születésnapja</a:t>
            </a:r>
            <a:r>
              <a:rPr lang="en-US" b="0" i="0" dirty="0"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alkalmából</a:t>
            </a:r>
            <a:r>
              <a:rPr lang="en-US" b="0" i="0" dirty="0"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munkaversenyeket</a:t>
            </a:r>
            <a:r>
              <a:rPr lang="en-US" b="0" i="0" dirty="0"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hirdettek</a:t>
            </a:r>
            <a:r>
              <a:rPr lang="en-US" b="0" i="0" dirty="0"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országszerte</a:t>
            </a:r>
            <a:r>
              <a:rPr lang="en-US" b="0" i="0" dirty="0">
                <a:effectLst/>
                <a:latin typeface="Arial" panose="020B0604020202020204" pitchFamily="34" charset="0"/>
              </a:rPr>
              <a:t>.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Ekkoriban</a:t>
            </a:r>
            <a:r>
              <a:rPr lang="en-US" b="0" i="0" dirty="0"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alapították</a:t>
            </a:r>
            <a:r>
              <a:rPr lang="en-US" b="0" i="0" dirty="0">
                <a:effectLst/>
                <a:latin typeface="Arial" panose="020B0604020202020204" pitchFamily="34" charset="0"/>
              </a:rPr>
              <a:t> meg a </a:t>
            </a:r>
            <a:r>
              <a:rPr lang="en-US" i="1" dirty="0" err="1">
                <a:latin typeface="Arial" panose="020B0604020202020204" pitchFamily="34" charset="0"/>
              </a:rPr>
              <a:t>Rákosi</a:t>
            </a:r>
            <a:r>
              <a:rPr lang="en-US" i="1" dirty="0">
                <a:latin typeface="Arial" panose="020B0604020202020204" pitchFamily="34" charset="0"/>
              </a:rPr>
              <a:t> </a:t>
            </a:r>
            <a:r>
              <a:rPr lang="en-US" i="1" dirty="0" err="1">
                <a:latin typeface="Arial" panose="020B0604020202020204" pitchFamily="34" charset="0"/>
              </a:rPr>
              <a:t>Mátyás</a:t>
            </a:r>
            <a:r>
              <a:rPr lang="en-US" i="1" dirty="0">
                <a:latin typeface="Arial" panose="020B0604020202020204" pitchFamily="34" charset="0"/>
              </a:rPr>
              <a:t> </a:t>
            </a:r>
            <a:r>
              <a:rPr lang="en-US" i="1" dirty="0" err="1">
                <a:latin typeface="Arial" panose="020B0604020202020204" pitchFamily="34" charset="0"/>
              </a:rPr>
              <a:t>Tanulmányi</a:t>
            </a:r>
            <a:r>
              <a:rPr lang="en-US" i="1" dirty="0">
                <a:latin typeface="Arial" panose="020B0604020202020204" pitchFamily="34" charset="0"/>
              </a:rPr>
              <a:t> </a:t>
            </a:r>
            <a:r>
              <a:rPr lang="en-US" i="1" dirty="0" err="1">
                <a:latin typeface="Arial" panose="020B0604020202020204" pitchFamily="34" charset="0"/>
              </a:rPr>
              <a:t>Verseny</a:t>
            </a:r>
            <a:r>
              <a:rPr lang="en-US" b="0" i="0" dirty="0">
                <a:effectLst/>
                <a:latin typeface="Arial" panose="020B0604020202020204" pitchFamily="34" charset="0"/>
              </a:rPr>
              <a:t>-t (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előtte</a:t>
            </a:r>
            <a:r>
              <a:rPr lang="en-US" b="0" i="0" dirty="0">
                <a:effectLst/>
                <a:latin typeface="Arial" panose="020B0604020202020204" pitchFamily="34" charset="0"/>
              </a:rPr>
              <a:t>,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és</a:t>
            </a:r>
            <a:r>
              <a:rPr lang="en-US" b="0" i="0" dirty="0">
                <a:effectLst/>
                <a:latin typeface="Arial" panose="020B0604020202020204" pitchFamily="34" charset="0"/>
              </a:rPr>
              <a:t> 1956-tól (OKTV)-t), a </a:t>
            </a:r>
            <a:r>
              <a:rPr lang="en-US" b="0" i="1" dirty="0" err="1">
                <a:effectLst/>
                <a:latin typeface="Arial" panose="020B0604020202020204" pitchFamily="34" charset="0"/>
              </a:rPr>
              <a:t>Rákosi-kupát</a:t>
            </a:r>
            <a:r>
              <a:rPr lang="en-US" b="0" i="0" dirty="0">
                <a:effectLst/>
                <a:latin typeface="Arial" panose="020B0604020202020204" pitchFamily="34" charset="0"/>
              </a:rPr>
              <a:t> 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és</a:t>
            </a:r>
            <a:r>
              <a:rPr lang="en-US" b="0" i="0" dirty="0"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még</a:t>
            </a:r>
            <a:r>
              <a:rPr lang="en-US" b="0" i="0" dirty="0"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számos</a:t>
            </a:r>
            <a:r>
              <a:rPr lang="en-US" b="0" i="0" dirty="0"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elismerést</a:t>
            </a:r>
            <a:r>
              <a:rPr lang="en-US" b="0" i="0" dirty="0">
                <a:effectLst/>
                <a:latin typeface="Arial" panose="020B0604020202020204" pitchFamily="34" charset="0"/>
              </a:rPr>
              <a:t>,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amit</a:t>
            </a:r>
            <a:r>
              <a:rPr lang="en-US" b="0" i="0" dirty="0"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tiszteletére</a:t>
            </a:r>
            <a:r>
              <a:rPr lang="en-US" b="0" i="0" dirty="0"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alapítottak</a:t>
            </a:r>
            <a:r>
              <a:rPr lang="en-US" b="0" i="0" dirty="0">
                <a:effectLst/>
                <a:latin typeface="Arial" panose="020B0604020202020204" pitchFamily="34" charset="0"/>
              </a:rPr>
              <a:t>. </a:t>
            </a:r>
            <a:endParaRPr lang="hu-HU" b="0" i="0" dirty="0">
              <a:effectLst/>
              <a:latin typeface="Arial" panose="020B0604020202020204" pitchFamily="34" charset="0"/>
            </a:endParaRPr>
          </a:p>
          <a:p>
            <a:pPr algn="just"/>
            <a:r>
              <a:rPr lang="en-US" b="0" i="0" dirty="0">
                <a:effectLst/>
                <a:latin typeface="Arial" panose="020B0604020202020204" pitchFamily="34" charset="0"/>
              </a:rPr>
              <a:t>Minden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magyarnak</a:t>
            </a:r>
            <a:r>
              <a:rPr lang="en-US" b="0" i="0" dirty="0"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kötelező</a:t>
            </a:r>
            <a:r>
              <a:rPr lang="en-US" b="0" i="0" dirty="0">
                <a:effectLst/>
                <a:latin typeface="Arial" panose="020B0604020202020204" pitchFamily="34" charset="0"/>
              </a:rPr>
              <a:t> volt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valamivel</a:t>
            </a:r>
            <a:r>
              <a:rPr lang="en-US" b="0" i="0" dirty="0"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hozzájárulnia</a:t>
            </a:r>
            <a:r>
              <a:rPr lang="en-US" b="0" i="0" dirty="0">
                <a:effectLst/>
                <a:latin typeface="Arial" panose="020B0604020202020204" pitchFamily="34" charset="0"/>
              </a:rPr>
              <a:t> a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nagy</a:t>
            </a:r>
            <a:r>
              <a:rPr lang="en-US" b="0" i="0" dirty="0"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ünnepséghez</a:t>
            </a:r>
            <a:r>
              <a:rPr lang="en-US" b="0" i="0" dirty="0">
                <a:effectLst/>
                <a:latin typeface="Arial" panose="020B0604020202020204" pitchFamily="34" charset="0"/>
              </a:rPr>
              <a:t>: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az</a:t>
            </a:r>
            <a:r>
              <a:rPr lang="en-US" b="0" i="0" dirty="0"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óvodások</a:t>
            </a:r>
            <a:r>
              <a:rPr lang="en-US" b="0" i="0" dirty="0"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rajzokat</a:t>
            </a:r>
            <a:r>
              <a:rPr lang="en-US" b="0" i="0" dirty="0"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készítettek</a:t>
            </a:r>
            <a:r>
              <a:rPr lang="en-US" b="0" i="0" dirty="0">
                <a:effectLst/>
                <a:latin typeface="Arial" panose="020B0604020202020204" pitchFamily="34" charset="0"/>
              </a:rPr>
              <a:t>,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az</a:t>
            </a:r>
            <a:r>
              <a:rPr lang="en-US" b="0" i="0" dirty="0"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általános</a:t>
            </a:r>
            <a:r>
              <a:rPr lang="en-US" b="0" i="0" dirty="0"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iskolások</a:t>
            </a:r>
            <a:r>
              <a:rPr lang="en-US" b="0" i="0" dirty="0"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első</a:t>
            </a:r>
            <a:r>
              <a:rPr lang="en-US" b="0" i="0" dirty="0"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fogalmazásukat</a:t>
            </a:r>
            <a:r>
              <a:rPr lang="en-US" b="0" i="0" dirty="0"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neki</a:t>
            </a:r>
            <a:r>
              <a:rPr lang="en-US" b="0" i="0" dirty="0"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írták</a:t>
            </a:r>
            <a:r>
              <a:rPr lang="en-US" b="0" i="0" dirty="0">
                <a:effectLst/>
                <a:latin typeface="Arial" panose="020B0604020202020204" pitchFamily="34" charset="0"/>
              </a:rPr>
              <a:t>, a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felnőttek</a:t>
            </a:r>
            <a:r>
              <a:rPr lang="en-US" b="0" i="0" dirty="0"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terítőkbe</a:t>
            </a:r>
            <a:r>
              <a:rPr lang="en-US" b="0" i="0" dirty="0"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hímezték</a:t>
            </a:r>
            <a:r>
              <a:rPr lang="en-US" b="0" i="0" dirty="0"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Rákosi</a:t>
            </a:r>
            <a:r>
              <a:rPr lang="en-US" b="0" i="0" dirty="0"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nevét</a:t>
            </a:r>
            <a:r>
              <a:rPr lang="en-US" b="0" i="0" dirty="0">
                <a:effectLst/>
                <a:latin typeface="Arial" panose="020B0604020202020204" pitchFamily="34" charset="0"/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92427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09A9B70-3F89-4A60-8D8D-D53B24885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Online médiaelem 3" title="Rákosi Mátyás 60. születésnapja 1. rész">
            <a:hlinkClick r:id="" action="ppaction://media"/>
            <a:extLst>
              <a:ext uri="{FF2B5EF4-FFF2-40B4-BE49-F238E27FC236}">
                <a16:creationId xmlns:a16="http://schemas.microsoft.com/office/drawing/2014/main" id="{B62E099C-EB09-49D9-ADA9-850D8BE02F4B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137146" y="91580"/>
            <a:ext cx="9020853" cy="6766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361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43B0B38-4107-4127-940B-DFCC1056A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Online médiaelem 3" title="Rákosi Mátyás 60. születésnapja 2. rész">
            <a:hlinkClick r:id="" action="ppaction://media"/>
            <a:extLst>
              <a:ext uri="{FF2B5EF4-FFF2-40B4-BE49-F238E27FC236}">
                <a16:creationId xmlns:a16="http://schemas.microsoft.com/office/drawing/2014/main" id="{1C4C1B54-14BE-49A0-8585-377BD3FEA412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349406" y="0"/>
            <a:ext cx="9155837" cy="6867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7959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rtalom helye 2">
            <a:extLst>
              <a:ext uri="{FF2B5EF4-FFF2-40B4-BE49-F238E27FC236}">
                <a16:creationId xmlns:a16="http://schemas.microsoft.com/office/drawing/2014/main" id="{51121EC2-8783-4A6F-A1AB-D57C5988B074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0" y="932155"/>
            <a:ext cx="7075503" cy="5175682"/>
          </a:xfrm>
        </p:spPr>
        <p:txBody>
          <a:bodyPr>
            <a:normAutofit fontScale="92500"/>
          </a:bodyPr>
          <a:lstStyle/>
          <a:p>
            <a:pPr algn="just"/>
            <a:r>
              <a:rPr lang="en-US" b="0" i="0" dirty="0">
                <a:effectLst/>
                <a:latin typeface="Arial" panose="020B0604020202020204" pitchFamily="34" charset="0"/>
              </a:rPr>
              <a:t>1949.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május</a:t>
            </a:r>
            <a:r>
              <a:rPr lang="en-US" b="0" i="0" dirty="0">
                <a:effectLst/>
                <a:latin typeface="Arial" panose="020B0604020202020204" pitchFamily="34" charset="0"/>
              </a:rPr>
              <a:t> 30-án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letartóztatták</a:t>
            </a:r>
            <a:r>
              <a:rPr lang="en-US" b="0" i="0" dirty="0">
                <a:effectLst/>
                <a:latin typeface="Arial" panose="020B0604020202020204" pitchFamily="34" charset="0"/>
              </a:rPr>
              <a:t> </a:t>
            </a:r>
            <a:r>
              <a:rPr lang="en-US" dirty="0" err="1">
                <a:latin typeface="Arial" panose="020B0604020202020204" pitchFamily="34" charset="0"/>
              </a:rPr>
              <a:t>Rajk</a:t>
            </a:r>
            <a:r>
              <a:rPr lang="en-US" dirty="0">
                <a:latin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</a:rPr>
              <a:t>Lászlót</a:t>
            </a:r>
            <a:r>
              <a:rPr lang="hu-HU" b="0" i="0" u="none" strike="noStrike" dirty="0">
                <a:effectLst/>
                <a:latin typeface="Arial" panose="020B0604020202020204" pitchFamily="34" charset="0"/>
              </a:rPr>
              <a:t> (belügy- és külügy miniszter)</a:t>
            </a:r>
            <a:r>
              <a:rPr lang="en-US" b="0" i="0" dirty="0">
                <a:effectLst/>
                <a:latin typeface="Arial" panose="020B0604020202020204" pitchFamily="34" charset="0"/>
              </a:rPr>
              <a:t>, </a:t>
            </a:r>
            <a:r>
              <a:rPr lang="hu-HU" b="0" i="0" dirty="0">
                <a:effectLst/>
                <a:latin typeface="Arial" panose="020B0604020202020204" pitchFamily="34" charset="0"/>
              </a:rPr>
              <a:t>Vádak: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imperialista</a:t>
            </a:r>
            <a:r>
              <a:rPr lang="en-US" b="0" i="0" dirty="0"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kémkedés</a:t>
            </a:r>
            <a:r>
              <a:rPr lang="hu-HU" dirty="0">
                <a:latin typeface="Arial" panose="020B0604020202020204" pitchFamily="34" charset="0"/>
              </a:rPr>
              <a:t>,</a:t>
            </a:r>
            <a:r>
              <a:rPr lang="en-US" b="0" i="0" dirty="0"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besúgója</a:t>
            </a:r>
            <a:r>
              <a:rPr lang="en-US" b="0" i="0" dirty="0">
                <a:effectLst/>
                <a:latin typeface="Arial" panose="020B0604020202020204" pitchFamily="34" charset="0"/>
              </a:rPr>
              <a:t> volt a Horthy-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rendőrségnek</a:t>
            </a:r>
            <a:r>
              <a:rPr lang="en-US" b="0" i="0" dirty="0">
                <a:effectLst/>
                <a:latin typeface="Arial" panose="020B0604020202020204" pitchFamily="34" charset="0"/>
              </a:rPr>
              <a:t>,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titokban</a:t>
            </a:r>
            <a:r>
              <a:rPr lang="en-US" b="0" i="0" dirty="0"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tárgyalt</a:t>
            </a:r>
            <a:r>
              <a:rPr lang="en-US" b="0" i="0" dirty="0">
                <a:effectLst/>
                <a:latin typeface="Arial" panose="020B0604020202020204" pitchFamily="34" charset="0"/>
              </a:rPr>
              <a:t> a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jugoszlávokkal</a:t>
            </a:r>
            <a:r>
              <a:rPr lang="en-US" b="0" i="0" dirty="0">
                <a:effectLst/>
                <a:latin typeface="Arial" panose="020B0604020202020204" pitchFamily="34" charset="0"/>
              </a:rPr>
              <a:t> a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magyar</a:t>
            </a:r>
            <a:r>
              <a:rPr lang="en-US" b="0" i="0" dirty="0"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vezetők</a:t>
            </a:r>
            <a:r>
              <a:rPr lang="en-US" b="0" i="0" dirty="0"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megöletéséről</a:t>
            </a:r>
            <a:r>
              <a:rPr lang="en-US" b="0" i="0" dirty="0">
                <a:effectLst/>
                <a:latin typeface="Arial" panose="020B0604020202020204" pitchFamily="34" charset="0"/>
              </a:rPr>
              <a:t>. </a:t>
            </a:r>
            <a:endParaRPr lang="hu-HU" b="0" i="0" dirty="0">
              <a:effectLst/>
              <a:latin typeface="Arial" panose="020B0604020202020204" pitchFamily="34" charset="0"/>
            </a:endParaRPr>
          </a:p>
          <a:p>
            <a:pPr algn="just"/>
            <a:r>
              <a:rPr lang="en-US" b="0" i="0" dirty="0">
                <a:effectLst/>
                <a:latin typeface="Arial" panose="020B0604020202020204" pitchFamily="34" charset="0"/>
              </a:rPr>
              <a:t>Rajkot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és</a:t>
            </a:r>
            <a:r>
              <a:rPr lang="en-US" b="0" i="0" dirty="0"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társait</a:t>
            </a:r>
            <a:r>
              <a:rPr lang="en-US" b="0" i="0" dirty="0"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október</a:t>
            </a:r>
            <a:r>
              <a:rPr lang="en-US" b="0" i="0" dirty="0">
                <a:effectLst/>
                <a:latin typeface="Arial" panose="020B0604020202020204" pitchFamily="34" charset="0"/>
              </a:rPr>
              <a:t> 15-én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halálra</a:t>
            </a:r>
            <a:r>
              <a:rPr lang="en-US" b="0" i="0" dirty="0"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ítélték</a:t>
            </a:r>
            <a:r>
              <a:rPr lang="en-US" b="0" i="0" dirty="0"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és</a:t>
            </a:r>
            <a:r>
              <a:rPr lang="en-US" b="0" i="0" dirty="0"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kivégezték</a:t>
            </a:r>
            <a:r>
              <a:rPr lang="en-US" b="0" i="0" dirty="0">
                <a:effectLst/>
                <a:latin typeface="Arial" panose="020B0604020202020204" pitchFamily="34" charset="0"/>
              </a:rPr>
              <a:t>. </a:t>
            </a:r>
            <a:endParaRPr lang="hu-HU" dirty="0">
              <a:latin typeface="Arial" panose="020B0604020202020204" pitchFamily="34" charset="0"/>
            </a:endParaRPr>
          </a:p>
          <a:p>
            <a:pPr algn="just"/>
            <a:r>
              <a:rPr lang="hu-HU" dirty="0">
                <a:latin typeface="Arial" panose="020B0604020202020204" pitchFamily="34" charset="0"/>
              </a:rPr>
              <a:t>Sztálin</a:t>
            </a:r>
            <a:r>
              <a:rPr lang="hu-HU" b="0" i="0" dirty="0">
                <a:effectLst/>
                <a:latin typeface="Arial" panose="020B0604020202020204" pitchFamily="34" charset="0"/>
              </a:rPr>
              <a:t> 1953. március 5-i halála után Rákosi pozíciója meggyengült; </a:t>
            </a:r>
          </a:p>
          <a:p>
            <a:pPr algn="just"/>
            <a:r>
              <a:rPr lang="hu-HU" b="0" i="0" dirty="0">
                <a:effectLst/>
                <a:latin typeface="Arial" panose="020B0604020202020204" pitchFamily="34" charset="0"/>
              </a:rPr>
              <a:t>egy pártdelegációval Moszkvába rendelték, ahol a </a:t>
            </a:r>
            <a:r>
              <a:rPr lang="hu-HU" dirty="0">
                <a:latin typeface="Arial" panose="020B0604020202020204" pitchFamily="34" charset="0"/>
              </a:rPr>
              <a:t>Szovjetunió Kommunista Pártja</a:t>
            </a:r>
            <a:r>
              <a:rPr lang="hu-HU" b="0" i="0" dirty="0">
                <a:effectLst/>
                <a:latin typeface="Arial" panose="020B0604020202020204" pitchFamily="34" charset="0"/>
              </a:rPr>
              <a:t> vezetői szándékosan a vezetőtársai előtt súlyos személyes bírálatban részesítették. </a:t>
            </a:r>
          </a:p>
          <a:p>
            <a:pPr algn="just"/>
            <a:r>
              <a:rPr lang="hu-HU" dirty="0">
                <a:latin typeface="Arial" panose="020B0604020202020204" pitchFamily="34" charset="0"/>
              </a:rPr>
              <a:t>Nagy Imre javára le kellett mondania.</a:t>
            </a:r>
          </a:p>
          <a:p>
            <a:pPr algn="just"/>
            <a:r>
              <a:rPr lang="hu-HU" b="0" i="0" dirty="0">
                <a:effectLst/>
                <a:latin typeface="Arial" panose="020B0604020202020204" pitchFamily="34" charset="0"/>
              </a:rPr>
              <a:t>Rákosinak sikerült </a:t>
            </a:r>
            <a:r>
              <a:rPr lang="en-US" dirty="0">
                <a:latin typeface="Arial" panose="020B0604020202020204" pitchFamily="34" charset="0"/>
              </a:rPr>
              <a:t>1955</a:t>
            </a:r>
            <a:r>
              <a:rPr lang="en-US" b="0" i="0" dirty="0">
                <a:effectLst/>
                <a:latin typeface="Arial" panose="020B0604020202020204" pitchFamily="34" charset="0"/>
              </a:rPr>
              <a:t>-re </a:t>
            </a:r>
            <a:r>
              <a:rPr lang="hu-HU" b="0" i="0" dirty="0">
                <a:effectLst/>
                <a:latin typeface="Arial" panose="020B0604020202020204" pitchFamily="34" charset="0"/>
              </a:rPr>
              <a:t>elérni </a:t>
            </a:r>
            <a:r>
              <a:rPr lang="en-US" dirty="0">
                <a:latin typeface="Arial" panose="020B0604020202020204" pitchFamily="34" charset="0"/>
              </a:rPr>
              <a:t>Nagy </a:t>
            </a:r>
            <a:r>
              <a:rPr lang="en-US" dirty="0" err="1">
                <a:latin typeface="Arial" panose="020B0604020202020204" pitchFamily="34" charset="0"/>
              </a:rPr>
              <a:t>Imre</a:t>
            </a:r>
            <a:r>
              <a:rPr lang="en-US" b="0" i="0" dirty="0">
                <a:effectLst/>
                <a:latin typeface="Arial" panose="020B0604020202020204" pitchFamily="34" charset="0"/>
              </a:rPr>
              <a:t> 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leváltását</a:t>
            </a:r>
            <a:r>
              <a:rPr lang="en-US" b="0" i="0" dirty="0">
                <a:effectLst/>
                <a:latin typeface="Arial" panose="020B0604020202020204" pitchFamily="34" charset="0"/>
              </a:rPr>
              <a:t>. </a:t>
            </a:r>
            <a:endParaRPr lang="en-US" b="1" dirty="0"/>
          </a:p>
          <a:p>
            <a:pPr algn="just"/>
            <a:endParaRPr lang="en-US" dirty="0"/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EC6A5417-C776-447F-A081-A19CB73362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5655" y="585925"/>
            <a:ext cx="4566202" cy="5331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60101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99EC412-77D0-400B-92B2-96871B0DF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1956-os forradalom</a:t>
            </a:r>
            <a:endParaRPr lang="en-US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A349517-B643-460A-A776-BCE1803220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150" y="2015732"/>
            <a:ext cx="7173157" cy="3450613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hu-HU" dirty="0">
                <a:latin typeface="Arial" panose="020B0604020202020204" pitchFamily="34" charset="0"/>
              </a:rPr>
              <a:t>Nyikita Hruscsov</a:t>
            </a:r>
            <a:r>
              <a:rPr lang="hu-HU" b="0" i="0" u="none" strike="noStrike" dirty="0">
                <a:effectLst/>
                <a:latin typeface="Arial" panose="020B0604020202020204" pitchFamily="34" charset="0"/>
              </a:rPr>
              <a:t> (szovjet vezető)</a:t>
            </a:r>
            <a:r>
              <a:rPr lang="hu-HU" b="0" i="0" dirty="0">
                <a:effectLst/>
                <a:latin typeface="Arial" panose="020B0604020202020204" pitchFamily="34" charset="0"/>
              </a:rPr>
              <a:t> nevezetes beszéde a </a:t>
            </a:r>
            <a:r>
              <a:rPr lang="hu-HU" dirty="0">
                <a:latin typeface="Arial" panose="020B0604020202020204" pitchFamily="34" charset="0"/>
              </a:rPr>
              <a:t>Szovjetunió Kommunista Pártjának</a:t>
            </a:r>
            <a:r>
              <a:rPr lang="hu-HU" b="0" i="0" dirty="0">
                <a:effectLst/>
                <a:latin typeface="Arial" panose="020B0604020202020204" pitchFamily="34" charset="0"/>
              </a:rPr>
              <a:t> XX. kongresszusán (ahol a személyi kultusz bűneit taglalta) halaszthatatlanná tették a magyarországi viszonyok rendezését is. </a:t>
            </a:r>
          </a:p>
          <a:p>
            <a:pPr algn="just"/>
            <a:r>
              <a:rPr lang="hu-HU" dirty="0">
                <a:latin typeface="Arial" panose="020B0604020202020204" pitchFamily="34" charset="0"/>
              </a:rPr>
              <a:t>1956</a:t>
            </a:r>
            <a:r>
              <a:rPr lang="hu-HU" b="0" i="0" dirty="0">
                <a:effectLst/>
                <a:latin typeface="Arial" panose="020B0604020202020204" pitchFamily="34" charset="0"/>
              </a:rPr>
              <a:t>. </a:t>
            </a:r>
            <a:r>
              <a:rPr lang="hu-HU" dirty="0">
                <a:latin typeface="Arial" panose="020B0604020202020204" pitchFamily="34" charset="0"/>
              </a:rPr>
              <a:t>október 6</a:t>
            </a:r>
            <a:r>
              <a:rPr lang="hu-HU" b="0" i="0" dirty="0">
                <a:effectLst/>
                <a:latin typeface="Arial" panose="020B0604020202020204" pitchFamily="34" charset="0"/>
              </a:rPr>
              <a:t>-án exhumálták Rajk Lászlót és társait, majd rehabilitálták őket. </a:t>
            </a:r>
          </a:p>
          <a:p>
            <a:pPr algn="just"/>
            <a:r>
              <a:rPr lang="hu-HU" b="0" i="0" dirty="0">
                <a:effectLst/>
                <a:latin typeface="Arial" panose="020B0604020202020204" pitchFamily="34" charset="0"/>
              </a:rPr>
              <a:t>Október 23-án a diákság 14 pontos követelése: a szovjet csapatok kivonása, Nagy Imre visszavétele a kormányba, valamint Rákosi Mátyás bíróság elé állítása</a:t>
            </a:r>
            <a:r>
              <a:rPr lang="hu-HU" dirty="0">
                <a:latin typeface="Arial" panose="020B0604020202020204" pitchFamily="34" charset="0"/>
              </a:rPr>
              <a:t>, </a:t>
            </a:r>
            <a:r>
              <a:rPr lang="hu-HU" b="0" i="0" dirty="0">
                <a:effectLst/>
                <a:latin typeface="Arial" panose="020B0604020202020204" pitchFamily="34" charset="0"/>
              </a:rPr>
              <a:t>szólás- és sajtószabadság, a </a:t>
            </a:r>
            <a:r>
              <a:rPr lang="hu-HU" dirty="0">
                <a:latin typeface="Arial" panose="020B0604020202020204" pitchFamily="34" charset="0"/>
              </a:rPr>
              <a:t>Kossuth-címer</a:t>
            </a:r>
            <a:r>
              <a:rPr lang="hu-HU" b="0" i="0" dirty="0">
                <a:effectLst/>
                <a:latin typeface="Arial" panose="020B0604020202020204" pitchFamily="34" charset="0"/>
              </a:rPr>
              <a:t> használata stb. </a:t>
            </a: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D956B60B-A79F-4419-9320-684365DD7E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8953" y="193590"/>
            <a:ext cx="3275760" cy="3644283"/>
          </a:xfrm>
          <a:prstGeom prst="rect">
            <a:avLst/>
          </a:prstGeom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4678FAF9-2A24-4C84-A0E3-D4F77C5F7C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8953" y="4088025"/>
            <a:ext cx="3275760" cy="1965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1744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76C7F05-0C96-439C-B9C6-671455953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1956-os forradalom</a:t>
            </a:r>
            <a:endParaRPr lang="en-US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06AEB9C-881F-4E49-B462-B7FEE79334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15732"/>
            <a:ext cx="6880194" cy="3450613"/>
          </a:xfrm>
        </p:spPr>
        <p:txBody>
          <a:bodyPr>
            <a:normAutofit fontScale="85000" lnSpcReduction="10000"/>
          </a:bodyPr>
          <a:lstStyle/>
          <a:p>
            <a:pPr algn="just"/>
            <a:r>
              <a:rPr lang="en-US" b="0" i="0" dirty="0" err="1">
                <a:effectLst/>
                <a:latin typeface="Arial" panose="020B0604020202020204" pitchFamily="34" charset="0"/>
              </a:rPr>
              <a:t>Október</a:t>
            </a:r>
            <a:r>
              <a:rPr lang="en-US" b="0" i="0" dirty="0">
                <a:effectLst/>
                <a:latin typeface="Arial" panose="020B0604020202020204" pitchFamily="34" charset="0"/>
              </a:rPr>
              <a:t> 24-ére a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felkelők</a:t>
            </a:r>
            <a:r>
              <a:rPr lang="en-US" b="0" i="0" dirty="0"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követelései</a:t>
            </a:r>
            <a:r>
              <a:rPr lang="en-US" b="0" i="0" dirty="0"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lényegében</a:t>
            </a:r>
            <a:r>
              <a:rPr lang="en-US" b="0" i="0" dirty="0"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teljesültek</a:t>
            </a:r>
            <a:r>
              <a:rPr lang="en-US" b="0" i="0" dirty="0">
                <a:effectLst/>
                <a:latin typeface="Arial" panose="020B0604020202020204" pitchFamily="34" charset="0"/>
              </a:rPr>
              <a:t>.</a:t>
            </a:r>
            <a:r>
              <a:rPr lang="hu-HU" b="0" i="0" dirty="0">
                <a:effectLst/>
                <a:latin typeface="Arial" panose="020B0604020202020204" pitchFamily="34" charset="0"/>
              </a:rPr>
              <a:t> A szovjetek megpróbálták felszámolni a forradalmat.</a:t>
            </a:r>
            <a:r>
              <a:rPr lang="en-US" b="0" i="0" dirty="0">
                <a:effectLst/>
                <a:latin typeface="Arial" panose="020B0604020202020204" pitchFamily="34" charset="0"/>
              </a:rPr>
              <a:t> </a:t>
            </a:r>
            <a:endParaRPr lang="hu-HU" b="0" i="0" dirty="0">
              <a:effectLst/>
              <a:latin typeface="Arial" panose="020B0604020202020204" pitchFamily="34" charset="0"/>
            </a:endParaRPr>
          </a:p>
          <a:p>
            <a:pPr algn="just"/>
            <a:r>
              <a:rPr lang="hu-HU" b="0" i="0" dirty="0">
                <a:effectLst/>
                <a:latin typeface="Arial" panose="020B0604020202020204" pitchFamily="34" charset="0"/>
              </a:rPr>
              <a:t>Okt. 25. </a:t>
            </a:r>
            <a:r>
              <a:rPr lang="hu-HU" dirty="0">
                <a:latin typeface="Arial" panose="020B0604020202020204" pitchFamily="34" charset="0"/>
              </a:rPr>
              <a:t>K</a:t>
            </a:r>
            <a:r>
              <a:rPr lang="hu-HU" b="0" i="0" dirty="0">
                <a:effectLst/>
                <a:latin typeface="Arial" panose="020B0604020202020204" pitchFamily="34" charset="0"/>
              </a:rPr>
              <a:t>öztársaság téri tüntetés és sortűz. Végül a szovjetek visszavonulnak. </a:t>
            </a:r>
          </a:p>
          <a:p>
            <a:pPr algn="just"/>
            <a:r>
              <a:rPr lang="en-US" b="0" i="0" dirty="0" err="1">
                <a:effectLst/>
                <a:latin typeface="Arial" panose="020B0604020202020204" pitchFamily="34" charset="0"/>
              </a:rPr>
              <a:t>Október</a:t>
            </a:r>
            <a:r>
              <a:rPr lang="en-US" b="0" i="0" dirty="0">
                <a:effectLst/>
                <a:latin typeface="Arial" panose="020B0604020202020204" pitchFamily="34" charset="0"/>
              </a:rPr>
              <a:t> 25-én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az</a:t>
            </a:r>
            <a:r>
              <a:rPr lang="en-US" b="0" i="0" dirty="0">
                <a:effectLst/>
                <a:latin typeface="Arial" panose="020B0604020202020204" pitchFamily="34" charset="0"/>
              </a:rPr>
              <a:t> MDP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Központi</a:t>
            </a:r>
            <a:r>
              <a:rPr lang="en-US" b="0" i="0" dirty="0"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Vezetősége</a:t>
            </a:r>
            <a:r>
              <a:rPr lang="en-US" b="0" i="0" dirty="0"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Kádár</a:t>
            </a:r>
            <a:r>
              <a:rPr lang="en-US" b="0" i="0" dirty="0"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Jánost</a:t>
            </a:r>
            <a:r>
              <a:rPr lang="en-US" b="0" i="0" dirty="0"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bízta</a:t>
            </a:r>
            <a:r>
              <a:rPr lang="en-US" b="0" i="0" dirty="0">
                <a:effectLst/>
                <a:latin typeface="Arial" panose="020B0604020202020204" pitchFamily="34" charset="0"/>
              </a:rPr>
              <a:t> meg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az</a:t>
            </a:r>
            <a:r>
              <a:rPr lang="en-US" b="0" i="0" dirty="0"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első</a:t>
            </a:r>
            <a:r>
              <a:rPr lang="en-US" b="0" i="0" dirty="0"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titkári</a:t>
            </a:r>
            <a:r>
              <a:rPr lang="en-US" b="0" i="0" dirty="0"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feladatok</a:t>
            </a:r>
            <a:r>
              <a:rPr lang="en-US" b="0" i="0" dirty="0"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ellátásával</a:t>
            </a:r>
            <a:r>
              <a:rPr lang="hu-HU" dirty="0">
                <a:latin typeface="Arial" panose="020B0604020202020204" pitchFamily="34" charset="0"/>
              </a:rPr>
              <a:t>,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engedélyezték</a:t>
            </a:r>
            <a:r>
              <a:rPr lang="en-US" b="0" i="0" dirty="0">
                <a:effectLst/>
                <a:latin typeface="Arial" panose="020B0604020202020204" pitchFamily="34" charset="0"/>
              </a:rPr>
              <a:t> a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többpártrendszert</a:t>
            </a:r>
            <a:r>
              <a:rPr lang="en-US" b="0" i="0" dirty="0">
                <a:effectLst/>
                <a:latin typeface="Arial" panose="020B0604020202020204" pitchFamily="34" charset="0"/>
              </a:rPr>
              <a:t>,</a:t>
            </a:r>
            <a:r>
              <a:rPr lang="hu-HU" b="0" i="0" dirty="0"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koalíciós</a:t>
            </a:r>
            <a:r>
              <a:rPr lang="en-US" b="0" i="0" dirty="0"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kormány</a:t>
            </a:r>
            <a:r>
              <a:rPr lang="en-US" b="0" i="0" dirty="0"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alakult</a:t>
            </a:r>
            <a:r>
              <a:rPr lang="en-US" b="0" i="0" dirty="0">
                <a:effectLst/>
                <a:latin typeface="Arial" panose="020B0604020202020204" pitchFamily="34" charset="0"/>
              </a:rPr>
              <a:t> Nagy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Imre</a:t>
            </a:r>
            <a:r>
              <a:rPr lang="en-US" b="0" i="0" dirty="0"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vezetésével</a:t>
            </a:r>
            <a:r>
              <a:rPr lang="en-US" b="0" i="0" dirty="0">
                <a:effectLst/>
                <a:latin typeface="Arial" panose="020B0604020202020204" pitchFamily="34" charset="0"/>
              </a:rPr>
              <a:t>. </a:t>
            </a:r>
            <a:endParaRPr lang="hu-HU" b="0" i="0" dirty="0">
              <a:effectLst/>
              <a:latin typeface="Arial" panose="020B0604020202020204" pitchFamily="34" charset="0"/>
            </a:endParaRPr>
          </a:p>
          <a:p>
            <a:pPr algn="just"/>
            <a:r>
              <a:rPr lang="en-US" b="0" i="0" dirty="0" err="1">
                <a:effectLst/>
                <a:latin typeface="Arial" panose="020B0604020202020204" pitchFamily="34" charset="0"/>
              </a:rPr>
              <a:t>Kádár</a:t>
            </a:r>
            <a:r>
              <a:rPr lang="en-US" b="0" i="0" dirty="0"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október</a:t>
            </a:r>
            <a:r>
              <a:rPr lang="en-US" b="0" i="0" dirty="0">
                <a:effectLst/>
                <a:latin typeface="Arial" panose="020B0604020202020204" pitchFamily="34" charset="0"/>
              </a:rPr>
              <a:t> 29-én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bejelentette</a:t>
            </a:r>
            <a:r>
              <a:rPr lang="en-US" b="0" i="0" dirty="0"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az</a:t>
            </a:r>
            <a:r>
              <a:rPr lang="en-US" b="0" i="0" dirty="0">
                <a:effectLst/>
                <a:latin typeface="Arial" panose="020B0604020202020204" pitchFamily="34" charset="0"/>
              </a:rPr>
              <a:t> MDP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feloszlását</a:t>
            </a:r>
            <a:r>
              <a:rPr lang="en-US" b="0" i="0" dirty="0">
                <a:effectLst/>
                <a:latin typeface="Arial" panose="020B0604020202020204" pitchFamily="34" charset="0"/>
              </a:rPr>
              <a:t>,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és</a:t>
            </a:r>
            <a:r>
              <a:rPr lang="en-US" b="0" i="0" dirty="0"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helyette</a:t>
            </a:r>
            <a:r>
              <a:rPr lang="en-US" b="0" i="0" dirty="0"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új</a:t>
            </a:r>
            <a:r>
              <a:rPr lang="en-US" b="0" i="0" dirty="0"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pártot</a:t>
            </a:r>
            <a:r>
              <a:rPr lang="en-US" b="0" i="0" dirty="0"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alapított</a:t>
            </a:r>
            <a:r>
              <a:rPr lang="en-US" b="0" i="0" dirty="0">
                <a:effectLst/>
                <a:latin typeface="Arial" panose="020B0604020202020204" pitchFamily="34" charset="0"/>
              </a:rPr>
              <a:t>, a </a:t>
            </a:r>
            <a:r>
              <a:rPr lang="en-US" dirty="0">
                <a:latin typeface="Arial" panose="020B0604020202020204" pitchFamily="34" charset="0"/>
              </a:rPr>
              <a:t>Magyar </a:t>
            </a:r>
            <a:r>
              <a:rPr lang="en-US" dirty="0" err="1">
                <a:latin typeface="Arial" panose="020B0604020202020204" pitchFamily="34" charset="0"/>
              </a:rPr>
              <a:t>Szocialista</a:t>
            </a:r>
            <a:r>
              <a:rPr lang="en-US" dirty="0">
                <a:latin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</a:rPr>
              <a:t>Munkáspártot</a:t>
            </a:r>
            <a:r>
              <a:rPr lang="en-US" b="0" i="0" dirty="0">
                <a:effectLst/>
                <a:latin typeface="Arial" panose="020B0604020202020204" pitchFamily="34" charset="0"/>
              </a:rPr>
              <a:t> (MSZMP). </a:t>
            </a:r>
            <a:endParaRPr lang="hu-HU" b="0" i="0" dirty="0">
              <a:effectLst/>
              <a:latin typeface="Arial" panose="020B0604020202020204" pitchFamily="34" charset="0"/>
            </a:endParaRP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6A6B9D16-EC4F-45FA-AD02-5FD2FEF691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3840" y="0"/>
            <a:ext cx="2683401" cy="3555507"/>
          </a:xfrm>
          <a:prstGeom prst="rect">
            <a:avLst/>
          </a:prstGeom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3FEFD6B3-74AB-4334-8E36-3F4571AABA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3374" y="2915775"/>
            <a:ext cx="2914357" cy="3839592"/>
          </a:xfrm>
          <a:prstGeom prst="rect">
            <a:avLst/>
          </a:prstGeom>
        </p:spPr>
      </p:pic>
      <p:sp>
        <p:nvSpPr>
          <p:cNvPr id="6" name="Szövegdoboz 5">
            <a:extLst>
              <a:ext uri="{FF2B5EF4-FFF2-40B4-BE49-F238E27FC236}">
                <a16:creationId xmlns:a16="http://schemas.microsoft.com/office/drawing/2014/main" id="{C96BA69D-CFE0-453D-BCFE-F92FFB642290}"/>
              </a:ext>
            </a:extLst>
          </p:cNvPr>
          <p:cNvSpPr txBox="1"/>
          <p:nvPr/>
        </p:nvSpPr>
        <p:spPr>
          <a:xfrm>
            <a:off x="9951868" y="346229"/>
            <a:ext cx="2024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Kádár János</a:t>
            </a:r>
            <a:endParaRPr lang="en-US" dirty="0"/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459B90E8-BCA0-4012-8D1C-4E8C39A61BF1}"/>
              </a:ext>
            </a:extLst>
          </p:cNvPr>
          <p:cNvSpPr txBox="1"/>
          <p:nvPr/>
        </p:nvSpPr>
        <p:spPr>
          <a:xfrm>
            <a:off x="10031767" y="2547891"/>
            <a:ext cx="1944210" cy="367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Nagy Imre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50969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3">
            <a:extLst>
              <a:ext uri="{FF2B5EF4-FFF2-40B4-BE49-F238E27FC236}">
                <a16:creationId xmlns:a16="http://schemas.microsoft.com/office/drawing/2014/main" id="{7B258907-B807-47D8-A2F8-A1D4433EA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forradalomból szabadságharc lesz</a:t>
            </a:r>
            <a:endParaRPr lang="en-US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7E7062A-0486-4D4A-AB88-23A4E6A5C5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15732"/>
            <a:ext cx="7430610" cy="3450613"/>
          </a:xfrm>
        </p:spPr>
        <p:txBody>
          <a:bodyPr>
            <a:normAutofit lnSpcReduction="10000"/>
          </a:bodyPr>
          <a:lstStyle/>
          <a:p>
            <a:r>
              <a:rPr lang="en-US" dirty="0">
                <a:latin typeface="Arial" panose="020B0604020202020204" pitchFamily="34" charset="0"/>
              </a:rPr>
              <a:t>November </a:t>
            </a:r>
            <a:r>
              <a:rPr lang="hu-HU" dirty="0">
                <a:latin typeface="Arial" panose="020B0604020202020204" pitchFamily="34" charset="0"/>
              </a:rPr>
              <a:t>1</a:t>
            </a:r>
            <a:r>
              <a:rPr lang="en-US" b="0" i="0" dirty="0">
                <a:effectLst/>
                <a:latin typeface="Arial" panose="020B0604020202020204" pitchFamily="34" charset="0"/>
              </a:rPr>
              <a:t>-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jén</a:t>
            </a:r>
            <a:r>
              <a:rPr lang="en-US" b="0" i="0" dirty="0">
                <a:effectLst/>
                <a:latin typeface="Arial" panose="020B0604020202020204" pitchFamily="34" charset="0"/>
              </a:rPr>
              <a:t> a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szovjetek</a:t>
            </a:r>
            <a:r>
              <a:rPr lang="en-US" b="0" i="0" dirty="0">
                <a:effectLst/>
                <a:latin typeface="Arial" panose="020B0604020202020204" pitchFamily="34" charset="0"/>
              </a:rPr>
              <a:t> </a:t>
            </a:r>
            <a:r>
              <a:rPr lang="hu-HU" dirty="0">
                <a:latin typeface="Arial" panose="020B0604020202020204" pitchFamily="34" charset="0"/>
              </a:rPr>
              <a:t>Kádár Jánost</a:t>
            </a:r>
            <a:r>
              <a:rPr lang="en-US" b="0" i="0" dirty="0"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kicsempészték</a:t>
            </a:r>
            <a:r>
              <a:rPr lang="en-US" b="0" i="0" dirty="0"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az</a:t>
            </a:r>
            <a:r>
              <a:rPr lang="en-US" b="0" i="0" dirty="0"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országból</a:t>
            </a:r>
            <a:r>
              <a:rPr lang="en-US" b="0" i="0" dirty="0"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és</a:t>
            </a:r>
            <a:r>
              <a:rPr lang="en-US" b="0" i="0" dirty="0"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Moszkvába</a:t>
            </a:r>
            <a:r>
              <a:rPr lang="en-US" b="0" i="0" dirty="0"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szállították</a:t>
            </a:r>
            <a:r>
              <a:rPr lang="en-US" b="0" i="0" dirty="0">
                <a:effectLst/>
                <a:latin typeface="Arial" panose="020B0604020202020204" pitchFamily="34" charset="0"/>
              </a:rPr>
              <a:t>.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Itt</a:t>
            </a:r>
            <a:r>
              <a:rPr lang="en-US" b="0" i="0" dirty="0"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felkérték</a:t>
            </a:r>
            <a:r>
              <a:rPr lang="en-US" b="0" i="0" dirty="0">
                <a:effectLst/>
                <a:latin typeface="Arial" panose="020B0604020202020204" pitchFamily="34" charset="0"/>
              </a:rPr>
              <a:t> ő</a:t>
            </a:r>
            <a:r>
              <a:rPr lang="hu-HU" b="0" i="0" dirty="0">
                <a:effectLst/>
                <a:latin typeface="Arial" panose="020B0604020202020204" pitchFamily="34" charset="0"/>
              </a:rPr>
              <a:t>t</a:t>
            </a:r>
            <a:r>
              <a:rPr lang="en-US" b="0" i="0" dirty="0"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arra</a:t>
            </a:r>
            <a:r>
              <a:rPr lang="en-US" b="0" i="0" dirty="0">
                <a:effectLst/>
                <a:latin typeface="Arial" panose="020B0604020202020204" pitchFamily="34" charset="0"/>
              </a:rPr>
              <a:t>,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hogy</a:t>
            </a:r>
            <a:r>
              <a:rPr lang="en-US" b="0" i="0" dirty="0"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vállalj</a:t>
            </a:r>
            <a:r>
              <a:rPr lang="hu-HU" b="0" i="0" dirty="0">
                <a:effectLst/>
                <a:latin typeface="Arial" panose="020B0604020202020204" pitchFamily="34" charset="0"/>
              </a:rPr>
              <a:t>a</a:t>
            </a:r>
            <a:r>
              <a:rPr lang="en-US" b="0" i="0" dirty="0"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el</a:t>
            </a:r>
            <a:r>
              <a:rPr lang="en-US" b="0" i="0" dirty="0">
                <a:effectLst/>
                <a:latin typeface="Arial" panose="020B0604020202020204" pitchFamily="34" charset="0"/>
              </a:rPr>
              <a:t> a „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rendteremtést</a:t>
            </a:r>
            <a:r>
              <a:rPr lang="en-US" b="0" i="0" dirty="0">
                <a:effectLst/>
                <a:latin typeface="Arial" panose="020B0604020202020204" pitchFamily="34" charset="0"/>
              </a:rPr>
              <a:t>”, s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alakítsanak</a:t>
            </a:r>
            <a:r>
              <a:rPr lang="en-US" b="0" i="0" dirty="0"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új</a:t>
            </a:r>
            <a:r>
              <a:rPr lang="en-US" b="0" i="0" dirty="0"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kormányt</a:t>
            </a:r>
            <a:r>
              <a:rPr lang="en-US" b="0" i="0" dirty="0">
                <a:effectLst/>
                <a:latin typeface="Arial" panose="020B0604020202020204" pitchFamily="34" charset="0"/>
              </a:rPr>
              <a:t>,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ellenkező</a:t>
            </a:r>
            <a:r>
              <a:rPr lang="en-US" b="0" i="0" dirty="0"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esetben</a:t>
            </a:r>
            <a:r>
              <a:rPr lang="en-US" b="0" i="0" dirty="0"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Rákosi</a:t>
            </a:r>
            <a:r>
              <a:rPr lang="en-US" b="0" i="0" dirty="0"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és</a:t>
            </a:r>
            <a:r>
              <a:rPr lang="en-US" b="0" i="0" dirty="0"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Gerő</a:t>
            </a:r>
            <a:r>
              <a:rPr lang="en-US" b="0" i="0" dirty="0"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visszatérnek</a:t>
            </a:r>
            <a:r>
              <a:rPr lang="en-US" b="0" i="0" dirty="0"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Magyarországra</a:t>
            </a:r>
            <a:r>
              <a:rPr lang="en-US" b="0" i="0" dirty="0">
                <a:effectLst/>
                <a:latin typeface="Arial" panose="020B0604020202020204" pitchFamily="34" charset="0"/>
              </a:rPr>
              <a:t>.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Kádár</a:t>
            </a:r>
            <a:r>
              <a:rPr lang="en-US" b="0" i="0" dirty="0"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elvállalta</a:t>
            </a:r>
            <a:r>
              <a:rPr lang="en-US" b="0" i="0" dirty="0">
                <a:effectLst/>
                <a:latin typeface="Arial" panose="020B0604020202020204" pitchFamily="34" charset="0"/>
              </a:rPr>
              <a:t> a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feladatot</a:t>
            </a:r>
            <a:r>
              <a:rPr lang="hu-HU" b="0" i="0" dirty="0">
                <a:effectLst/>
                <a:latin typeface="Arial" panose="020B0604020202020204" pitchFamily="34" charset="0"/>
              </a:rPr>
              <a:t>.</a:t>
            </a:r>
          </a:p>
          <a:p>
            <a:r>
              <a:rPr lang="en-US" dirty="0">
                <a:latin typeface="Arial" panose="020B0604020202020204" pitchFamily="34" charset="0"/>
              </a:rPr>
              <a:t>November 4-én</a:t>
            </a:r>
            <a:r>
              <a:rPr lang="en-US" b="0" i="0" dirty="0">
                <a:effectLst/>
                <a:latin typeface="Arial" panose="020B0604020202020204" pitchFamily="34" charset="0"/>
              </a:rPr>
              <a:t> 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hajnalban</a:t>
            </a:r>
            <a:r>
              <a:rPr lang="en-US" b="0" i="0" dirty="0"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az</a:t>
            </a:r>
            <a:r>
              <a:rPr lang="en-US" b="0" i="0" dirty="0"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ország</a:t>
            </a:r>
            <a:r>
              <a:rPr lang="en-US" b="0" i="0" dirty="0"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egész</a:t>
            </a:r>
            <a:r>
              <a:rPr lang="en-US" b="0" i="0" dirty="0"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területén</a:t>
            </a:r>
            <a:r>
              <a:rPr lang="en-US" b="0" i="0" dirty="0"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megindult</a:t>
            </a:r>
            <a:r>
              <a:rPr lang="en-US" b="0" i="0" dirty="0">
                <a:effectLst/>
                <a:latin typeface="Arial" panose="020B0604020202020204" pitchFamily="34" charset="0"/>
              </a:rPr>
              <a:t> a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szovjet</a:t>
            </a:r>
            <a:r>
              <a:rPr lang="en-US" b="0" i="0" dirty="0"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támadás</a:t>
            </a:r>
            <a:r>
              <a:rPr lang="en-US" b="0" i="0" dirty="0">
                <a:effectLst/>
                <a:latin typeface="Arial" panose="020B0604020202020204" pitchFamily="34" charset="0"/>
              </a:rPr>
              <a:t>.</a:t>
            </a:r>
            <a:endParaRPr lang="hu-HU" b="0" i="0" dirty="0">
              <a:effectLst/>
              <a:latin typeface="Arial" panose="020B0604020202020204" pitchFamily="34" charset="0"/>
            </a:endParaRPr>
          </a:p>
          <a:p>
            <a:r>
              <a:rPr lang="en-US" b="0" i="0" dirty="0" err="1">
                <a:effectLst/>
                <a:latin typeface="Arial" panose="020B0604020202020204" pitchFamily="34" charset="0"/>
              </a:rPr>
              <a:t>Csepel</a:t>
            </a:r>
            <a:r>
              <a:rPr lang="en-US" b="0" i="0" dirty="0">
                <a:effectLst/>
                <a:latin typeface="Arial" panose="020B0604020202020204" pitchFamily="34" charset="0"/>
              </a:rPr>
              <a:t> </a:t>
            </a:r>
            <a:r>
              <a:rPr lang="en-US" dirty="0" err="1">
                <a:latin typeface="Arial" panose="020B0604020202020204" pitchFamily="34" charset="0"/>
              </a:rPr>
              <a:t>november</a:t>
            </a:r>
            <a:r>
              <a:rPr lang="en-US" dirty="0">
                <a:latin typeface="Arial" panose="020B0604020202020204" pitchFamily="34" charset="0"/>
              </a:rPr>
              <a:t> 11-i</a:t>
            </a:r>
            <a:r>
              <a:rPr lang="en-US" b="0" i="0" dirty="0">
                <a:effectLst/>
                <a:latin typeface="Arial" panose="020B0604020202020204" pitchFamily="34" charset="0"/>
              </a:rPr>
              <a:t> 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elfoglalásával</a:t>
            </a:r>
            <a:r>
              <a:rPr lang="en-US" b="0" i="0" dirty="0">
                <a:effectLst/>
                <a:latin typeface="Arial" panose="020B0604020202020204" pitchFamily="34" charset="0"/>
              </a:rPr>
              <a:t> a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szovjet</a:t>
            </a:r>
            <a:r>
              <a:rPr lang="en-US" b="0" i="0" dirty="0"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csapatok</a:t>
            </a:r>
            <a:r>
              <a:rPr lang="en-US" b="0" i="0" dirty="0">
                <a:effectLst/>
                <a:latin typeface="Arial" panose="020B0604020202020204" pitchFamily="34" charset="0"/>
              </a:rPr>
              <a:t> a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fővárosban</a:t>
            </a:r>
            <a:r>
              <a:rPr lang="en-US" b="0" i="0" dirty="0"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felszámolták</a:t>
            </a:r>
            <a:r>
              <a:rPr lang="en-US" b="0" i="0" dirty="0">
                <a:effectLst/>
                <a:latin typeface="Arial" panose="020B0604020202020204" pitchFamily="34" charset="0"/>
              </a:rPr>
              <a:t> a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fegyveres</a:t>
            </a:r>
            <a:r>
              <a:rPr lang="en-US" b="0" i="0" dirty="0">
                <a:effectLst/>
                <a:latin typeface="Arial" panose="020B0604020202020204" pitchFamily="34" charset="0"/>
              </a:rPr>
              <a:t> </a:t>
            </a:r>
            <a:r>
              <a:rPr lang="en-US" b="0" i="0" dirty="0" err="1">
                <a:effectLst/>
                <a:latin typeface="Arial" panose="020B0604020202020204" pitchFamily="34" charset="0"/>
              </a:rPr>
              <a:t>ellenállást</a:t>
            </a:r>
            <a:r>
              <a:rPr lang="en-US" b="0" i="0" dirty="0">
                <a:effectLst/>
                <a:latin typeface="Arial" panose="020B0604020202020204" pitchFamily="34" charset="0"/>
              </a:rPr>
              <a:t>.</a:t>
            </a:r>
            <a:endParaRPr lang="en-US" dirty="0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EF5073ED-6571-41D3-9DAD-2181D8E69E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875" y="2015732"/>
            <a:ext cx="4876125" cy="3568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9090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FE457F7-0C9A-47CA-8D12-C665DBDA4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</a:t>
            </a:r>
            <a:r>
              <a:rPr lang="hu-HU" dirty="0" err="1"/>
              <a:t>ádá</a:t>
            </a:r>
            <a:r>
              <a:rPr lang="en-US" dirty="0"/>
              <a:t>r </a:t>
            </a:r>
            <a:r>
              <a:rPr lang="en-US" dirty="0" err="1"/>
              <a:t>korszak</a:t>
            </a:r>
            <a:endParaRPr lang="en-US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235D59D-CE7E-4072-AE75-C2872E14B0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4817" y="2015732"/>
            <a:ext cx="10138298" cy="3450613"/>
          </a:xfrm>
        </p:spPr>
        <p:txBody>
          <a:bodyPr>
            <a:normAutofit/>
          </a:bodyPr>
          <a:lstStyle/>
          <a:p>
            <a:pPr algn="just"/>
            <a:r>
              <a:rPr lang="hu-HU" b="0" i="0" dirty="0">
                <a:effectLst/>
                <a:latin typeface="Arial" panose="020B0604020202020204" pitchFamily="34" charset="0"/>
              </a:rPr>
              <a:t>1957–1958. megtorlások (Nagy Imre kivégzése), </a:t>
            </a:r>
            <a:r>
              <a:rPr lang="hu-HU" dirty="0">
                <a:latin typeface="Arial" panose="020B0604020202020204" pitchFamily="34" charset="0"/>
              </a:rPr>
              <a:t>n</a:t>
            </a:r>
            <a:r>
              <a:rPr lang="hu-HU" b="0" i="0" dirty="0">
                <a:effectLst/>
                <a:latin typeface="Arial" panose="020B0604020202020204" pitchFamily="34" charset="0"/>
              </a:rPr>
              <a:t>ekiláttak a politikai élet megváltoztatásának is. </a:t>
            </a:r>
          </a:p>
          <a:p>
            <a:pPr algn="just"/>
            <a:r>
              <a:rPr lang="hu-HU" dirty="0">
                <a:latin typeface="Arial" panose="020B0604020202020204" pitchFamily="34" charset="0"/>
              </a:rPr>
              <a:t>1958</a:t>
            </a:r>
            <a:r>
              <a:rPr lang="hu-HU" b="0" i="0" dirty="0">
                <a:effectLst/>
                <a:latin typeface="Arial" panose="020B0604020202020204" pitchFamily="34" charset="0"/>
              </a:rPr>
              <a:t>-ban új választások voltak, s így az országgyűlés összetétele kicserélődött. Ugyanekkor kizárták Rákosi Mátyást a pártból, és elérték, hogy 1971-ben bekövetkezett haláláig már ne is térhessen haza. </a:t>
            </a:r>
          </a:p>
          <a:p>
            <a:pPr algn="just"/>
            <a:r>
              <a:rPr lang="hu-HU" dirty="0">
                <a:latin typeface="Arial" panose="020B0604020202020204" pitchFamily="34" charset="0"/>
              </a:rPr>
              <a:t>1961</a:t>
            </a:r>
            <a:r>
              <a:rPr lang="hu-HU" b="0" i="0" dirty="0">
                <a:effectLst/>
                <a:latin typeface="Arial" panose="020B0604020202020204" pitchFamily="34" charset="0"/>
              </a:rPr>
              <a:t>–</a:t>
            </a:r>
            <a:r>
              <a:rPr lang="hu-HU" dirty="0">
                <a:latin typeface="Arial" panose="020B0604020202020204" pitchFamily="34" charset="0"/>
              </a:rPr>
              <a:t>1962</a:t>
            </a:r>
            <a:r>
              <a:rPr lang="hu-HU" b="0" i="0" dirty="0">
                <a:effectLst/>
                <a:latin typeface="Arial" panose="020B0604020202020204" pitchFamily="34" charset="0"/>
              </a:rPr>
              <a:t> körül konszolidálódott teljesen a Kádár-rendszer. Ezekhez az évekhez három fontos momentum fűződik: </a:t>
            </a:r>
          </a:p>
        </p:txBody>
      </p:sp>
    </p:spTree>
    <p:extLst>
      <p:ext uri="{BB962C8B-B14F-4D97-AF65-F5344CB8AC3E}">
        <p14:creationId xmlns:p14="http://schemas.microsoft.com/office/powerpoint/2010/main" val="28476020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rtalom helye 2">
            <a:extLst>
              <a:ext uri="{FF2B5EF4-FFF2-40B4-BE49-F238E27FC236}">
                <a16:creationId xmlns:a16="http://schemas.microsoft.com/office/drawing/2014/main" id="{244F20B3-736A-441F-A69D-D3CFC5A76A0F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239697" y="1331651"/>
            <a:ext cx="11611992" cy="5350353"/>
          </a:xfrm>
        </p:spPr>
        <p:txBody>
          <a:bodyPr>
            <a:normAutofit/>
          </a:bodyPr>
          <a:lstStyle/>
          <a:p>
            <a:r>
              <a:rPr lang="hu-HU" b="0" i="0" dirty="0">
                <a:effectLst/>
                <a:latin typeface="Arial" panose="020B0604020202020204" pitchFamily="34" charset="0"/>
              </a:rPr>
              <a:t>Először is: </a:t>
            </a:r>
            <a:r>
              <a:rPr lang="hu-HU" b="0" i="0" dirty="0" err="1">
                <a:effectLst/>
                <a:latin typeface="Arial" panose="020B0604020202020204" pitchFamily="34" charset="0"/>
              </a:rPr>
              <a:t>véghezvitték</a:t>
            </a:r>
            <a:r>
              <a:rPr lang="hu-HU" b="0" i="0" dirty="0">
                <a:effectLst/>
                <a:latin typeface="Arial" panose="020B0604020202020204" pitchFamily="34" charset="0"/>
              </a:rPr>
              <a:t>, bár erőszakos módon, a </a:t>
            </a:r>
            <a:r>
              <a:rPr lang="hu-HU" dirty="0">
                <a:latin typeface="Arial" panose="020B0604020202020204" pitchFamily="34" charset="0"/>
              </a:rPr>
              <a:t>mezőgazdaság</a:t>
            </a:r>
            <a:r>
              <a:rPr lang="hu-HU" b="0" i="0" dirty="0">
                <a:effectLst/>
                <a:latin typeface="Arial" panose="020B0604020202020204" pitchFamily="34" charset="0"/>
              </a:rPr>
              <a:t> kollektivizálását és a </a:t>
            </a:r>
            <a:r>
              <a:rPr lang="hu-HU" b="0" i="0" dirty="0" err="1">
                <a:effectLst/>
                <a:latin typeface="Arial" panose="020B0604020202020204" pitchFamily="34" charset="0"/>
              </a:rPr>
              <a:t>téeszesítést</a:t>
            </a:r>
            <a:r>
              <a:rPr lang="hu-HU" b="0" i="0" dirty="0">
                <a:effectLst/>
                <a:latin typeface="Arial" panose="020B0604020202020204" pitchFamily="34" charset="0"/>
              </a:rPr>
              <a:t>, amely később jelentős eredményeket tudott felmutatni, s a háztáji állattartás és növénytermesztés engedélyezésével viszonylag szabaddá is vált. </a:t>
            </a:r>
          </a:p>
          <a:p>
            <a:r>
              <a:rPr lang="hu-HU" b="0" i="0" dirty="0">
                <a:effectLst/>
                <a:latin typeface="Arial" panose="020B0604020202020204" pitchFamily="34" charset="0"/>
              </a:rPr>
              <a:t>Másodszor: megkezdődött az 1956-os cselekményekben résztvevők amnesztiája. Kádár János ekkor hirdette meg szállóigévé vált programját: „aki nincs ellenünk, az velünk van”. A gyakorlatban ez azt jelentette, hogy a rendszer bizonyos fokú szabadságot enged az embereknek, anyagi és egzisztenciális fejlődést, cserébe nem kérdőjelezik meg a rendszer legitimitását, s különösen nem próbálkoznak az erőszakos megdöntésével. </a:t>
            </a:r>
          </a:p>
          <a:p>
            <a:r>
              <a:rPr lang="hu-HU" b="0" i="0" dirty="0">
                <a:effectLst/>
                <a:latin typeface="Arial" panose="020B0604020202020204" pitchFamily="34" charset="0"/>
              </a:rPr>
              <a:t>Harmadszor: az </a:t>
            </a:r>
            <a:r>
              <a:rPr lang="hu-HU" dirty="0">
                <a:latin typeface="Arial" panose="020B0604020202020204" pitchFamily="34" charset="0"/>
              </a:rPr>
              <a:t>ENSZ (Egyesült Nemzetek Szövetsége)</a:t>
            </a:r>
            <a:r>
              <a:rPr lang="hu-HU" b="0" i="0" dirty="0">
                <a:effectLst/>
                <a:latin typeface="Arial" panose="020B0604020202020204" pitchFamily="34" charset="0"/>
              </a:rPr>
              <a:t> levette a napirendjéről az ún. „magyar kérdést”, a Kádár-kormányt elismerték hivatalos magyar kormányként.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1310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rtalom helye 2">
            <a:extLst>
              <a:ext uri="{FF2B5EF4-FFF2-40B4-BE49-F238E27FC236}">
                <a16:creationId xmlns:a16="http://schemas.microsoft.com/office/drawing/2014/main" id="{D67AE28F-980D-4E55-86CB-EF8ABB32C2FA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585928" y="621438"/>
            <a:ext cx="6356411" cy="5601809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hu-HU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Kádár János 1965-ig maradt miniszterelnök, de megmaradt a legfontosabb politikai szereplőnek.</a:t>
            </a:r>
          </a:p>
          <a:p>
            <a:pPr algn="just"/>
            <a:r>
              <a:rPr lang="hu-HU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A hatvanas években Magyarország fejlődésnek indult, a hivatalos politika ugyanis az életszínvonal folyamatos emelését tűzte ki célul, főleg azért, </a:t>
            </a:r>
            <a:r>
              <a:rPr lang="hu-HU" b="0" i="0" dirty="0">
                <a:effectLst/>
                <a:latin typeface="Arial" panose="020B0604020202020204" pitchFamily="34" charset="0"/>
              </a:rPr>
              <a:t>hogy ezzel is megelőzzék az 1956-os forradalomhoz hasonló esetleges újabb lázongásokat. Ekkortól jellemezték </a:t>
            </a:r>
            <a:r>
              <a:rPr lang="hu-HU" b="1" i="0" dirty="0">
                <a:effectLst/>
                <a:latin typeface="Arial" panose="020B0604020202020204" pitchFamily="34" charset="0"/>
              </a:rPr>
              <a:t>„</a:t>
            </a:r>
            <a:r>
              <a:rPr lang="hu-HU" b="1" dirty="0">
                <a:latin typeface="Arial" panose="020B0604020202020204" pitchFamily="34" charset="0"/>
              </a:rPr>
              <a:t>gulyáskommunizmusként</a:t>
            </a:r>
            <a:r>
              <a:rPr lang="hu-HU" b="0" i="0" dirty="0">
                <a:effectLst/>
                <a:latin typeface="Arial" panose="020B0604020202020204" pitchFamily="34" charset="0"/>
              </a:rPr>
              <a:t>” Magyarország helyzetét és vált az ország a </a:t>
            </a:r>
            <a:r>
              <a:rPr lang="hu-HU" b="1" i="0" dirty="0">
                <a:effectLst/>
                <a:latin typeface="Arial" panose="020B0604020202020204" pitchFamily="34" charset="0"/>
              </a:rPr>
              <a:t>„legvidámabb barakká”</a:t>
            </a:r>
            <a:r>
              <a:rPr lang="hu-HU" b="0" i="0" dirty="0">
                <a:effectLst/>
                <a:latin typeface="Arial" panose="020B0604020202020204" pitchFamily="34" charset="0"/>
              </a:rPr>
              <a:t> a szovjet tömb országai közül. </a:t>
            </a:r>
          </a:p>
          <a:p>
            <a:pPr algn="just"/>
            <a:r>
              <a:rPr lang="hu-HU" b="0" i="0" dirty="0">
                <a:effectLst/>
                <a:latin typeface="Arial" panose="020B0604020202020204" pitchFamily="34" charset="0"/>
              </a:rPr>
              <a:t> az </a:t>
            </a:r>
            <a:r>
              <a:rPr lang="hu-HU" dirty="0">
                <a:latin typeface="Arial" panose="020B0604020202020204" pitchFamily="34" charset="0"/>
              </a:rPr>
              <a:t>új gazdasági mechanizmus</a:t>
            </a:r>
            <a:r>
              <a:rPr lang="hu-HU" b="0" i="0" u="none" strike="noStrike" dirty="0">
                <a:effectLst/>
                <a:latin typeface="Arial" panose="020B0604020202020204" pitchFamily="34" charset="0"/>
              </a:rPr>
              <a:t>, meghirdetése</a:t>
            </a:r>
            <a:r>
              <a:rPr lang="hu-HU" u="none" strike="noStrike" dirty="0">
                <a:latin typeface="Arial" panose="020B0604020202020204" pitchFamily="34" charset="0"/>
              </a:rPr>
              <a:t> (</a:t>
            </a:r>
            <a:r>
              <a:rPr lang="hu-HU" b="0" i="0" dirty="0">
                <a:effectLst/>
                <a:latin typeface="Arial" panose="020B0604020202020204" pitchFamily="34" charset="0"/>
              </a:rPr>
              <a:t>a program része volt az állami vállalatok önállóságának növelése, egyes területeken a hatósági árak eltörlése, és a központilag meghatározott bérrendszer helyett egy rugalmasabb fizetési rendszer bevezetése) </a:t>
            </a:r>
          </a:p>
          <a:p>
            <a:pPr algn="just"/>
            <a:r>
              <a:rPr lang="hu-HU" b="0" i="0" dirty="0">
                <a:effectLst/>
                <a:latin typeface="Arial" panose="020B0604020202020204" pitchFamily="34" charset="0"/>
              </a:rPr>
              <a:t>A térség helyzetét veszélyeztette a </a:t>
            </a:r>
            <a:r>
              <a:rPr lang="hu-HU" dirty="0">
                <a:latin typeface="Arial" panose="020B0604020202020204" pitchFamily="34" charset="0"/>
              </a:rPr>
              <a:t>Csehszlovákiában</a:t>
            </a:r>
            <a:r>
              <a:rPr lang="hu-HU" b="0" i="0" dirty="0">
                <a:effectLst/>
                <a:latin typeface="Arial" panose="020B0604020202020204" pitchFamily="34" charset="0"/>
              </a:rPr>
              <a:t> kialakult politikai helyzet. Kádár János és magyar pártdelegációk többször próbáltak tárgyalni a csehszlovákokkal, hiába. Végül ez arra vezetett, hogy Magyarország a Varsói Szerződés csapataival együtt </a:t>
            </a:r>
            <a:r>
              <a:rPr lang="hu-HU" dirty="0">
                <a:latin typeface="Arial" panose="020B0604020202020204" pitchFamily="34" charset="0"/>
              </a:rPr>
              <a:t>megszállta Csehszlovákiát</a:t>
            </a:r>
            <a:r>
              <a:rPr lang="hu-HU" b="0" i="0" dirty="0">
                <a:effectLst/>
                <a:latin typeface="Arial" panose="020B0604020202020204" pitchFamily="34" charset="0"/>
              </a:rPr>
              <a:t>. </a:t>
            </a:r>
            <a:endParaRPr lang="en-US" dirty="0"/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EBFE4980-EA5B-489B-B34B-E5431ECD78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5653" y="316267"/>
            <a:ext cx="4191000" cy="2514600"/>
          </a:xfrm>
          <a:prstGeom prst="rect">
            <a:avLst/>
          </a:prstGeom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B4DC3880-AEB5-4CC0-9115-25E6A8B930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5653" y="3008089"/>
            <a:ext cx="4147568" cy="3818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7250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rtalom helye 2">
            <a:extLst>
              <a:ext uri="{FF2B5EF4-FFF2-40B4-BE49-F238E27FC236}">
                <a16:creationId xmlns:a16="http://schemas.microsoft.com/office/drawing/2014/main" id="{164478F2-7614-423A-9F3D-C178DF49907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97655" y="-71020"/>
            <a:ext cx="5998345" cy="6214368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hu-HU" b="0" i="0" dirty="0">
                <a:effectLst/>
                <a:latin typeface="Arial" panose="020B0604020202020204" pitchFamily="34" charset="0"/>
              </a:rPr>
              <a:t>A nyolcvanas években, a fokozódó politikai erjedés kikezdte a rendszert. </a:t>
            </a:r>
          </a:p>
          <a:p>
            <a:pPr algn="just"/>
            <a:r>
              <a:rPr lang="hu-HU" b="0" i="0" dirty="0">
                <a:effectLst/>
                <a:latin typeface="Arial" panose="020B0604020202020204" pitchFamily="34" charset="0"/>
              </a:rPr>
              <a:t>Kádár János, kora előrehaladtával, már egyre makacsabb, és a változásokkal szemben intoleránsabb volt, mint korábban. Leváltását az MSZMP-n belül is egyre többen felvetették. </a:t>
            </a:r>
          </a:p>
          <a:p>
            <a:pPr algn="just"/>
            <a:r>
              <a:rPr lang="hu-HU" dirty="0">
                <a:latin typeface="Arial" panose="020B0604020202020204" pitchFamily="34" charset="0"/>
              </a:rPr>
              <a:t>1987</a:t>
            </a:r>
            <a:r>
              <a:rPr lang="hu-HU" b="0" i="0" dirty="0">
                <a:effectLst/>
                <a:latin typeface="Arial" panose="020B0604020202020204" pitchFamily="34" charset="0"/>
              </a:rPr>
              <a:t>-től kezdve az ellenzékiek tevékenysége is felerősödött, ahogy </a:t>
            </a:r>
            <a:r>
              <a:rPr lang="hu-HU" dirty="0">
                <a:latin typeface="Arial" panose="020B0604020202020204" pitchFamily="34" charset="0"/>
              </a:rPr>
              <a:t>Mihail Gorbacsov</a:t>
            </a:r>
            <a:r>
              <a:rPr lang="hu-HU" b="0" i="0" dirty="0">
                <a:effectLst/>
                <a:latin typeface="Arial" panose="020B0604020202020204" pitchFamily="34" charset="0"/>
              </a:rPr>
              <a:t> új, engedékenyebb politikát hirdetett meg. </a:t>
            </a:r>
          </a:p>
          <a:p>
            <a:pPr algn="just"/>
            <a:r>
              <a:rPr lang="hu-HU" dirty="0">
                <a:latin typeface="Arial" panose="020B0604020202020204" pitchFamily="34" charset="0"/>
              </a:rPr>
              <a:t>1988</a:t>
            </a:r>
            <a:r>
              <a:rPr lang="hu-HU" b="0" i="0" dirty="0">
                <a:effectLst/>
                <a:latin typeface="Arial" panose="020B0604020202020204" pitchFamily="34" charset="0"/>
              </a:rPr>
              <a:t> májusában </a:t>
            </a:r>
            <a:r>
              <a:rPr lang="hu-HU" b="1" i="0" dirty="0">
                <a:effectLst/>
                <a:latin typeface="Arial" panose="020B0604020202020204" pitchFamily="34" charset="0"/>
              </a:rPr>
              <a:t>leváltották Kádárt</a:t>
            </a:r>
            <a:r>
              <a:rPr lang="hu-HU" b="0" i="0" dirty="0">
                <a:effectLst/>
                <a:latin typeface="Arial" panose="020B0604020202020204" pitchFamily="34" charset="0"/>
              </a:rPr>
              <a:t>, a helyére </a:t>
            </a:r>
            <a:r>
              <a:rPr lang="hu-HU" dirty="0">
                <a:latin typeface="Arial" panose="020B0604020202020204" pitchFamily="34" charset="0"/>
              </a:rPr>
              <a:t>Grósz Károly</a:t>
            </a:r>
            <a:r>
              <a:rPr lang="hu-HU" b="0" i="0" dirty="0">
                <a:effectLst/>
                <a:latin typeface="Arial" panose="020B0604020202020204" pitchFamily="34" charset="0"/>
              </a:rPr>
              <a:t> került. Grósz azonban nem tudta útját állni a politikai változásoknak. </a:t>
            </a:r>
          </a:p>
          <a:p>
            <a:pPr algn="just"/>
            <a:r>
              <a:rPr lang="hu-HU" b="1" dirty="0">
                <a:latin typeface="Arial" panose="020B0604020202020204" pitchFamily="34" charset="0"/>
              </a:rPr>
              <a:t>1989</a:t>
            </a:r>
            <a:r>
              <a:rPr lang="hu-HU" b="1" i="0" dirty="0">
                <a:effectLst/>
                <a:latin typeface="Arial" panose="020B0604020202020204" pitchFamily="34" charset="0"/>
              </a:rPr>
              <a:t> januárjában </a:t>
            </a:r>
            <a:r>
              <a:rPr lang="hu-HU" b="1" dirty="0">
                <a:latin typeface="Arial" panose="020B0604020202020204" pitchFamily="34" charset="0"/>
              </a:rPr>
              <a:t>Pozsgay Imre</a:t>
            </a:r>
            <a:r>
              <a:rPr lang="hu-HU" b="1" i="0" dirty="0">
                <a:effectLst/>
                <a:latin typeface="Arial" panose="020B0604020202020204" pitchFamily="34" charset="0"/>
              </a:rPr>
              <a:t> népfelkelésnek minősítette 1956-ot, ezzel a Kádár-rendszer egyik alappillérét rombolta le.  Június 16-án </a:t>
            </a:r>
            <a:r>
              <a:rPr lang="hu-HU" b="1" i="0" dirty="0" err="1">
                <a:effectLst/>
                <a:latin typeface="Arial" panose="020B0604020202020204" pitchFamily="34" charset="0"/>
              </a:rPr>
              <a:t>újratemették</a:t>
            </a:r>
            <a:r>
              <a:rPr lang="hu-HU" b="1" i="0" dirty="0">
                <a:effectLst/>
                <a:latin typeface="Arial" panose="020B0604020202020204" pitchFamily="34" charset="0"/>
              </a:rPr>
              <a:t> Nagy Imrét és társait, július 6-án pedig, éppen Kádár halálának napján rehabilitálták őket. </a:t>
            </a:r>
            <a:endParaRPr lang="hu-HU" b="1" dirty="0">
              <a:latin typeface="Arial" panose="020B0604020202020204" pitchFamily="34" charset="0"/>
            </a:endParaRPr>
          </a:p>
          <a:p>
            <a:pPr algn="just"/>
            <a:r>
              <a:rPr lang="hu-HU" b="0" i="0" dirty="0">
                <a:effectLst/>
                <a:latin typeface="Arial" panose="020B0604020202020204" pitchFamily="34" charset="0"/>
              </a:rPr>
              <a:t>Október 6-án a párt formálisan megszüntette magát, s létrejött jogutódja, a </a:t>
            </a:r>
            <a:r>
              <a:rPr lang="hu-HU" dirty="0">
                <a:latin typeface="Arial" panose="020B0604020202020204" pitchFamily="34" charset="0"/>
              </a:rPr>
              <a:t>Magyar Szocialista Párt</a:t>
            </a:r>
            <a:r>
              <a:rPr lang="hu-HU" b="0" i="0" dirty="0">
                <a:effectLst/>
                <a:latin typeface="Arial" panose="020B0604020202020204" pitchFamily="34" charset="0"/>
              </a:rPr>
              <a:t>.  1989. október 23-án </a:t>
            </a:r>
            <a:r>
              <a:rPr lang="hu-HU" dirty="0">
                <a:latin typeface="Arial" panose="020B0604020202020204" pitchFamily="34" charset="0"/>
              </a:rPr>
              <a:t>Szűrös Mátyás</a:t>
            </a:r>
            <a:r>
              <a:rPr lang="hu-HU" b="0" i="0" dirty="0">
                <a:effectLst/>
                <a:latin typeface="Arial" panose="020B0604020202020204" pitchFamily="34" charset="0"/>
              </a:rPr>
              <a:t> az </a:t>
            </a:r>
            <a:r>
              <a:rPr lang="hu-HU" dirty="0">
                <a:latin typeface="Arial" panose="020B0604020202020204" pitchFamily="34" charset="0"/>
              </a:rPr>
              <a:t>Országház</a:t>
            </a:r>
            <a:r>
              <a:rPr lang="hu-HU" b="0" i="0" dirty="0">
                <a:effectLst/>
                <a:latin typeface="Arial" panose="020B0604020202020204" pitchFamily="34" charset="0"/>
              </a:rPr>
              <a:t> erkélyéről kikiáltotta a Magyar Köztársaságot</a:t>
            </a:r>
            <a:r>
              <a:rPr lang="hu-HU" dirty="0">
                <a:latin typeface="Arial" panose="020B0604020202020204" pitchFamily="34" charset="0"/>
              </a:rPr>
              <a:t>.</a:t>
            </a:r>
            <a:endParaRPr lang="en-US" dirty="0"/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3E852C77-E961-41C9-B23E-2E70164C33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3387" y="221941"/>
            <a:ext cx="3877835" cy="2183907"/>
          </a:xfrm>
          <a:prstGeom prst="rect">
            <a:avLst/>
          </a:prstGeom>
        </p:spPr>
      </p:pic>
      <p:sp>
        <p:nvSpPr>
          <p:cNvPr id="5" name="Szövegdoboz 4">
            <a:extLst>
              <a:ext uri="{FF2B5EF4-FFF2-40B4-BE49-F238E27FC236}">
                <a16:creationId xmlns:a16="http://schemas.microsoft.com/office/drawing/2014/main" id="{6AB02337-5993-489D-8F73-F6690D4B5CAD}"/>
              </a:ext>
            </a:extLst>
          </p:cNvPr>
          <p:cNvSpPr txBox="1"/>
          <p:nvPr/>
        </p:nvSpPr>
        <p:spPr>
          <a:xfrm>
            <a:off x="8123068" y="2610035"/>
            <a:ext cx="33468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Mihail Gorbacsov</a:t>
            </a:r>
            <a:endParaRPr lang="en-US" dirty="0"/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F9BB6168-269B-4554-A0E5-83DB0668F4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3538" y="3041788"/>
            <a:ext cx="2399059" cy="3454855"/>
          </a:xfrm>
          <a:prstGeom prst="rect">
            <a:avLst/>
          </a:prstGeo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FE01633D-594E-417B-9012-EFAD36FB78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4734" y="3036164"/>
            <a:ext cx="2399611" cy="3466105"/>
          </a:xfrm>
          <a:prstGeom prst="rect">
            <a:avLst/>
          </a:prstGeom>
        </p:spPr>
      </p:pic>
      <p:sp>
        <p:nvSpPr>
          <p:cNvPr id="8" name="Szövegdoboz 7">
            <a:extLst>
              <a:ext uri="{FF2B5EF4-FFF2-40B4-BE49-F238E27FC236}">
                <a16:creationId xmlns:a16="http://schemas.microsoft.com/office/drawing/2014/main" id="{FBC577EC-13D2-4AE4-B47E-A8C0F0F331C9}"/>
              </a:ext>
            </a:extLst>
          </p:cNvPr>
          <p:cNvSpPr txBox="1"/>
          <p:nvPr/>
        </p:nvSpPr>
        <p:spPr>
          <a:xfrm>
            <a:off x="7310761" y="6504334"/>
            <a:ext cx="49714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Pozsgay Imre			Szűrös Mátyás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3153371"/>
      </p:ext>
    </p:extLst>
  </p:cSld>
  <p:clrMapOvr>
    <a:masterClrMapping/>
  </p:clrMapOvr>
</p:sld>
</file>

<file path=ppt/theme/theme1.xml><?xml version="1.0" encoding="utf-8"?>
<a:theme xmlns:a="http://schemas.openxmlformats.org/drawingml/2006/main" name="Galéria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EDEBE7"/>
      </a:lt2>
      <a:accent1>
        <a:srgbClr val="5FA534"/>
      </a:accent1>
      <a:accent2>
        <a:srgbClr val="DCAB34"/>
      </a:accent2>
      <a:accent3>
        <a:srgbClr val="D26D23"/>
      </a:accent3>
      <a:accent4>
        <a:srgbClr val="972323"/>
      </a:accent4>
      <a:accent5>
        <a:srgbClr val="236797"/>
      </a:accent5>
      <a:accent6>
        <a:srgbClr val="2FB6C6"/>
      </a:accent6>
      <a:hlink>
        <a:srgbClr val="8FC639"/>
      </a:hlink>
      <a:folHlink>
        <a:srgbClr val="E7C272"/>
      </a:folHlink>
    </a:clrScheme>
    <a:fontScheme name="Gallery">
      <a:majorFont>
        <a:latin typeface="Palatino Linotype" panose="020405020505050303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AC464412-510E-4F2B-8947-A0DDBD02899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Galéria</Template>
  <TotalTime>784</TotalTime>
  <Words>1384</Words>
  <Application>Microsoft Office PowerPoint</Application>
  <PresentationFormat>Szélesvásznú</PresentationFormat>
  <Paragraphs>70</Paragraphs>
  <Slides>17</Slides>
  <Notes>0</Notes>
  <HiddenSlides>0</HiddenSlides>
  <MMClips>2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17</vt:i4>
      </vt:variant>
    </vt:vector>
  </HeadingPairs>
  <TitlesOfParts>
    <vt:vector size="21" baseType="lpstr">
      <vt:lpstr>Arial</vt:lpstr>
      <vt:lpstr>Palatino Linotype</vt:lpstr>
      <vt:lpstr>Times New Roman</vt:lpstr>
      <vt:lpstr>Galéria</vt:lpstr>
      <vt:lpstr>Magyarország a második világháború után</vt:lpstr>
      <vt:lpstr>1945</vt:lpstr>
      <vt:lpstr>Új államforma</vt:lpstr>
      <vt:lpstr>Kommunista hatalomátvétel lépései</vt:lpstr>
      <vt:lpstr>PowerPoint-bemutató</vt:lpstr>
      <vt:lpstr>A Rákosi korszak</vt:lpstr>
      <vt:lpstr>PowerPoint-bemutató</vt:lpstr>
      <vt:lpstr>PowerPoint-bemutató</vt:lpstr>
      <vt:lpstr>PowerPoint-bemutató</vt:lpstr>
      <vt:lpstr>PowerPoint-bemutató</vt:lpstr>
      <vt:lpstr>1956-os forradalom</vt:lpstr>
      <vt:lpstr>1956-os forradalom</vt:lpstr>
      <vt:lpstr>A forradalomból szabadságharc lesz</vt:lpstr>
      <vt:lpstr>Kádár korszak</vt:lpstr>
      <vt:lpstr>PowerPoint-bemutató</vt:lpstr>
      <vt:lpstr>PowerPoint-bemutató</vt:lpstr>
      <vt:lpstr>PowerPoint-bemutató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Magyarország a második világháború útán</dc:title>
  <dc:creator>Kalman Attila</dc:creator>
  <cp:lastModifiedBy>Kalman Attila</cp:lastModifiedBy>
  <cp:revision>29</cp:revision>
  <dcterms:created xsi:type="dcterms:W3CDTF">2024-04-28T18:10:39Z</dcterms:created>
  <dcterms:modified xsi:type="dcterms:W3CDTF">2025-04-28T16:38:25Z</dcterms:modified>
</cp:coreProperties>
</file>